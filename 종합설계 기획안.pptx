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7"/>
  </p:notesMasterIdLst>
  <p:sldIdLst>
    <p:sldId id="287" r:id="rId2"/>
    <p:sldId id="304" r:id="rId3"/>
    <p:sldId id="305" r:id="rId4"/>
    <p:sldId id="318" r:id="rId5"/>
    <p:sldId id="319" r:id="rId6"/>
    <p:sldId id="317" r:id="rId7"/>
    <p:sldId id="314" r:id="rId8"/>
    <p:sldId id="309" r:id="rId9"/>
    <p:sldId id="310" r:id="rId10"/>
    <p:sldId id="312" r:id="rId11"/>
    <p:sldId id="313" r:id="rId12"/>
    <p:sldId id="311" r:id="rId13"/>
    <p:sldId id="321" r:id="rId14"/>
    <p:sldId id="320" r:id="rId15"/>
    <p:sldId id="308" r:id="rId16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9C83"/>
    <a:srgbClr val="7AC4AF"/>
    <a:srgbClr val="54B298"/>
    <a:srgbClr val="C8E3DC"/>
    <a:srgbClr val="E2F0D9"/>
    <a:srgbClr val="35957A"/>
    <a:srgbClr val="2D6471"/>
    <a:srgbClr val="C8E3DB"/>
    <a:srgbClr val="AFD4BC"/>
    <a:srgbClr val="C5E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A488322-F2BA-4B5B-9748-0D474271808F}" styleName="보통 스타일 3 - 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AF606853-7671-496A-8E4F-DF71F8EC918B}" styleName="어두운 스타일 1 - 강조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밝은 스타일 2 - 강조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9" autoAdjust="0"/>
    <p:restoredTop sz="90738" autoAdjust="0"/>
  </p:normalViewPr>
  <p:slideViewPr>
    <p:cSldViewPr snapToGrid="0">
      <p:cViewPr>
        <p:scale>
          <a:sx n="125" d="100"/>
          <a:sy n="125" d="100"/>
        </p:scale>
        <p:origin x="1158" y="-270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8305D9-70F0-47F9-B593-DB3747BEDC83}" type="datetimeFigureOut">
              <a:rPr lang="ko-KR" altLang="en-US" smtClean="0"/>
              <a:t>2018-12-14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A6C523-4B8F-45CA-A0FC-2BA79C67F6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20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C523-4B8F-45CA-A0FC-2BA79C67F66C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1914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C523-4B8F-45CA-A0FC-2BA79C67F66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2338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C523-4B8F-45CA-A0FC-2BA79C67F66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7358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6C523-4B8F-45CA-A0FC-2BA79C67F66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825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0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0515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1" y="1709744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1" y="4589469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2327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549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365129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4304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936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23042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31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0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6754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0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31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0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266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7435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4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40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13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40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40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6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E165A-E35E-45E3-8B76-60E309AE9892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2018-12-14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5" y="6356356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6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3EBE2-04A1-4312-8B8B-38400B01AA92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430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edli94/Capstone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4544211" y="2983983"/>
            <a:ext cx="3749032" cy="2213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3200" dirty="0" err="1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파킨슨</a:t>
            </a:r>
            <a:r>
              <a:rPr lang="ko-KR" altLang="en-US" sz="32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 환자</a:t>
            </a:r>
            <a:r>
              <a:rPr lang="en-US" altLang="ko-KR" sz="32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rgbClr val="2A2A36"/>
                </a:solidFill>
                <a:latin typeface="Noto Sans CJK KR Thin" pitchFamily="34" charset="-127"/>
                <a:ea typeface="Noto Sans CJK KR Medium" pitchFamily="34" charset="-127"/>
              </a:rPr>
              <a:t>조기 진단을 위한 </a:t>
            </a:r>
            <a:endParaRPr lang="en-US" altLang="ko-KR" sz="3200" dirty="0">
              <a:solidFill>
                <a:srgbClr val="2A2A36"/>
              </a:solidFill>
              <a:latin typeface="Noto Sans CJK KR Thin" pitchFamily="34" charset="-127"/>
              <a:ea typeface="Noto Sans CJK KR Medium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3200" dirty="0">
                <a:solidFill>
                  <a:srgbClr val="2A2A36"/>
                </a:solidFill>
                <a:latin typeface="Noto Sans CJK KR Thin" pitchFamily="34" charset="-127"/>
                <a:ea typeface="Noto Sans CJK KR Thin" pitchFamily="34" charset="-127"/>
              </a:rPr>
              <a:t>어플리케이션</a:t>
            </a:r>
            <a:endParaRPr lang="en-US" altLang="ko-KR" sz="3200" dirty="0">
              <a:solidFill>
                <a:srgbClr val="2A2A36"/>
              </a:solidFill>
              <a:latin typeface="Noto Sans CJK KR Thin" pitchFamily="34" charset="-127"/>
              <a:ea typeface="Noto Sans CJK KR Medium" pitchFamily="34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60526" y="2253129"/>
            <a:ext cx="1858201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3000" dirty="0">
                <a:solidFill>
                  <a:schemeClr val="accent6">
                    <a:lumMod val="20000"/>
                    <a:lumOff val="80000"/>
                  </a:schemeClr>
                </a:solidFill>
                <a:latin typeface="Noto Sans CJK KR Medium" pitchFamily="34" charset="-127"/>
                <a:ea typeface="Noto Sans CJK KR Medium" pitchFamily="34" charset="-127"/>
              </a:rPr>
              <a:t>종합설계 </a:t>
            </a:r>
            <a:endParaRPr lang="ko-KR" altLang="en-US" sz="30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511AE6-B344-40D1-902B-7078B9401D66}"/>
              </a:ext>
            </a:extLst>
          </p:cNvPr>
          <p:cNvSpPr txBox="1"/>
          <p:nvPr/>
        </p:nvSpPr>
        <p:spPr>
          <a:xfrm>
            <a:off x="1209675" y="4966321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rgbClr val="C5E0B4"/>
                </a:solidFill>
              </a:rPr>
              <a:t>2014156039 </a:t>
            </a:r>
            <a:r>
              <a:rPr lang="ko-KR" altLang="en-US" sz="2400" dirty="0">
                <a:solidFill>
                  <a:srgbClr val="C5E0B4"/>
                </a:solidFill>
              </a:rPr>
              <a:t> 이태기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E426EE-67D1-4FF7-BDC4-6D69ABA0D740}"/>
              </a:ext>
            </a:extLst>
          </p:cNvPr>
          <p:cNvSpPr txBox="1"/>
          <p:nvPr/>
        </p:nvSpPr>
        <p:spPr>
          <a:xfrm>
            <a:off x="1209675" y="4430689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400" dirty="0">
                <a:solidFill>
                  <a:srgbClr val="C5E0B4"/>
                </a:solidFill>
              </a:rPr>
              <a:t>2014156011  </a:t>
            </a:r>
            <a:r>
              <a:rPr lang="ko-KR" altLang="en-US" sz="2400" dirty="0" err="1">
                <a:solidFill>
                  <a:srgbClr val="C5E0B4"/>
                </a:solidFill>
              </a:rPr>
              <a:t>노승재</a:t>
            </a:r>
            <a:endParaRPr lang="ko-KR" altLang="en-US" sz="2400" dirty="0">
              <a:solidFill>
                <a:srgbClr val="C5E0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858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678689" y="1745555"/>
            <a:ext cx="374903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400" b="1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01  </a:t>
            </a:r>
            <a:r>
              <a:rPr lang="ko-KR" altLang="en-US" sz="24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연구 배경</a:t>
            </a:r>
            <a:endParaRPr lang="en-US" altLang="ko-KR" sz="2400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endParaRPr lang="en-US" altLang="ko-KR" sz="2400" dirty="0">
              <a:solidFill>
                <a:srgbClr val="2A2A36"/>
              </a:solidFill>
              <a:latin typeface="Noto Sans CJK KR Thin" pitchFamily="34" charset="-127"/>
              <a:ea typeface="Noto Sans CJK KR Medium" pitchFamily="34" charset="-127"/>
            </a:endParaRPr>
          </a:p>
          <a:p>
            <a:r>
              <a:rPr lang="en-US" altLang="ko-KR" sz="2400" b="1" dirty="0">
                <a:solidFill>
                  <a:srgbClr val="2A2A36"/>
                </a:solidFill>
                <a:latin typeface="Noto Sans CJK KR Thin" pitchFamily="34" charset="-127"/>
                <a:ea typeface="Noto Sans CJK KR Medium" pitchFamily="34" charset="-127"/>
              </a:rPr>
              <a:t>02  </a:t>
            </a:r>
            <a:r>
              <a:rPr lang="ko-KR" altLang="en-US" sz="2400" dirty="0">
                <a:solidFill>
                  <a:srgbClr val="2A2A36"/>
                </a:solidFill>
                <a:latin typeface="Noto Sans CJK KR Thin" pitchFamily="34" charset="-127"/>
                <a:ea typeface="Noto Sans CJK KR Medium" pitchFamily="34" charset="-127"/>
              </a:rPr>
              <a:t>연구 목표</a:t>
            </a:r>
            <a:endParaRPr lang="en-US" altLang="ko-KR" sz="2400" dirty="0">
              <a:solidFill>
                <a:srgbClr val="2A2A36"/>
              </a:solidFill>
              <a:latin typeface="Noto Sans CJK KR Thin" pitchFamily="34" charset="-127"/>
              <a:ea typeface="Noto Sans CJK KR Medium" pitchFamily="34" charset="-127"/>
            </a:endParaRPr>
          </a:p>
          <a:p>
            <a:endParaRPr lang="en-US" altLang="ko-KR" sz="2400" dirty="0">
              <a:solidFill>
                <a:srgbClr val="2A2A36"/>
              </a:solidFill>
              <a:latin typeface="Noto Sans CJK KR Thin" pitchFamily="34" charset="-127"/>
              <a:ea typeface="Noto Sans CJK KR Medium" pitchFamily="34" charset="-127"/>
            </a:endParaRPr>
          </a:p>
          <a:p>
            <a:r>
              <a:rPr lang="en-US" altLang="ko-KR" sz="2400" b="1" dirty="0">
                <a:solidFill>
                  <a:srgbClr val="2A2A36"/>
                </a:solidFill>
                <a:latin typeface="Noto Sans CJK KR Thin" pitchFamily="34" charset="-127"/>
                <a:ea typeface="Noto Sans CJK KR Medium" pitchFamily="34" charset="-127"/>
              </a:rPr>
              <a:t>03  </a:t>
            </a:r>
            <a:r>
              <a:rPr lang="ko-KR" altLang="en-US" sz="2400" dirty="0">
                <a:solidFill>
                  <a:srgbClr val="2A2A36"/>
                </a:solidFill>
                <a:latin typeface="Noto Sans CJK KR Thin" pitchFamily="34" charset="-127"/>
                <a:ea typeface="Noto Sans CJK KR Medium" pitchFamily="34" charset="-127"/>
              </a:rPr>
              <a:t>연구 과제 기능 개요</a:t>
            </a:r>
            <a:endParaRPr lang="en-US" altLang="ko-KR" sz="2400" dirty="0">
              <a:solidFill>
                <a:srgbClr val="2A2A36"/>
              </a:solidFill>
              <a:latin typeface="Noto Sans CJK KR Thin" pitchFamily="34" charset="-127"/>
              <a:ea typeface="Noto Sans CJK KR Medium" pitchFamily="34" charset="-127"/>
            </a:endParaRPr>
          </a:p>
          <a:p>
            <a:endParaRPr lang="en-US" altLang="ko-KR" sz="2400" b="1" dirty="0">
              <a:solidFill>
                <a:srgbClr val="2A2A36"/>
              </a:solidFill>
              <a:latin typeface="Noto Sans CJK KR Thin" pitchFamily="34" charset="-127"/>
              <a:ea typeface="Noto Sans CJK KR Medium" pitchFamily="34" charset="-127"/>
            </a:endParaRPr>
          </a:p>
          <a:p>
            <a:r>
              <a:rPr lang="en-US" altLang="ko-KR" sz="2400" b="1" dirty="0">
                <a:solidFill>
                  <a:srgbClr val="2A2A36"/>
                </a:solidFill>
                <a:latin typeface="Noto Sans CJK KR Thin" pitchFamily="34" charset="-127"/>
                <a:ea typeface="Noto Sans CJK KR Medium" pitchFamily="34" charset="-127"/>
              </a:rPr>
              <a:t>04  </a:t>
            </a:r>
            <a:r>
              <a:rPr lang="ko-KR" altLang="en-US" sz="2400" dirty="0">
                <a:solidFill>
                  <a:srgbClr val="2A2A36"/>
                </a:solidFill>
                <a:latin typeface="Noto Sans CJK KR Thin" pitchFamily="34" charset="-127"/>
                <a:ea typeface="Noto Sans CJK KR Medium" pitchFamily="34" charset="-127"/>
              </a:rPr>
              <a:t>기능 세부사항</a:t>
            </a:r>
            <a:endParaRPr lang="en-US" altLang="ko-KR" sz="2400" dirty="0">
              <a:solidFill>
                <a:srgbClr val="2A2A36"/>
              </a:solidFill>
              <a:latin typeface="Noto Sans CJK KR Thin" pitchFamily="34" charset="-127"/>
              <a:ea typeface="Noto Sans CJK KR Thin" pitchFamily="34" charset="-127"/>
            </a:endParaRPr>
          </a:p>
          <a:p>
            <a:endParaRPr lang="en-US" altLang="ko-KR" sz="2400" b="1" dirty="0">
              <a:solidFill>
                <a:srgbClr val="2A2A36"/>
              </a:solidFill>
              <a:latin typeface="Noto Sans CJK KR Thin" pitchFamily="34" charset="-127"/>
              <a:ea typeface="Noto Sans CJK KR Medium" pitchFamily="34" charset="-127"/>
            </a:endParaRPr>
          </a:p>
          <a:p>
            <a:r>
              <a:rPr lang="en-US" altLang="ko-KR" sz="2400" b="1" dirty="0">
                <a:solidFill>
                  <a:srgbClr val="2A2A36"/>
                </a:solidFill>
                <a:latin typeface="Noto Sans CJK KR Thin" pitchFamily="34" charset="-127"/>
                <a:ea typeface="Noto Sans CJK KR Medium" pitchFamily="34" charset="-127"/>
              </a:rPr>
              <a:t>05  </a:t>
            </a:r>
            <a:r>
              <a:rPr lang="ko-KR" altLang="en-US" sz="2400" dirty="0">
                <a:solidFill>
                  <a:srgbClr val="2A2A36"/>
                </a:solidFill>
                <a:latin typeface="Noto Sans CJK KR Thin" pitchFamily="34" charset="-127"/>
                <a:ea typeface="Noto Sans CJK KR Medium" pitchFamily="34" charset="-127"/>
              </a:rPr>
              <a:t>추진 일정</a:t>
            </a:r>
            <a:endParaRPr lang="en-US" altLang="ko-KR" sz="2400" dirty="0">
              <a:solidFill>
                <a:srgbClr val="2A2A36"/>
              </a:solidFill>
              <a:latin typeface="Noto Sans CJK KR Thin" pitchFamily="34" charset="-127"/>
              <a:ea typeface="Noto Sans CJK KR Thin" pitchFamily="34" charset="-127"/>
            </a:endParaRPr>
          </a:p>
          <a:p>
            <a:endParaRPr lang="en-US" altLang="ko-KR" sz="2400" dirty="0">
              <a:solidFill>
                <a:srgbClr val="2A2A36"/>
              </a:solidFill>
              <a:latin typeface="Noto Sans CJK KR Thin" pitchFamily="34" charset="-127"/>
              <a:ea typeface="Noto Sans CJK KR Thin" pitchFamily="34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5478280" y="2259131"/>
            <a:ext cx="954107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30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목차</a:t>
            </a:r>
            <a:endParaRPr lang="ko-KR" altLang="en-US" sz="30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1803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6185309" y="1643421"/>
            <a:ext cx="19736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01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연구 배경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47829" y="2645644"/>
            <a:ext cx="7769035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▶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연령별 비교 시 노인층 인구에서 파킨슨병이 주로 발병하며</a:t>
            </a: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,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이는 고령화 사회로 진입하는 선진 국가들이 심각하게 다루어야 할 문제들 중 하나로 대두되었다</a:t>
            </a: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.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 </a:t>
            </a:r>
            <a:endParaRPr lang="en-US" altLang="ko-KR" sz="1600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C24191B-654C-4AF3-9A79-D14C670DE2A3}"/>
              </a:ext>
            </a:extLst>
          </p:cNvPr>
          <p:cNvSpPr/>
          <p:nvPr/>
        </p:nvSpPr>
        <p:spPr>
          <a:xfrm>
            <a:off x="347828" y="3969558"/>
            <a:ext cx="7769035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▶ </a:t>
            </a:r>
            <a:r>
              <a:rPr lang="ko-KR" altLang="en-US" sz="1600" dirty="0" err="1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파킨슨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 병은 일상 생활에서 떨림</a:t>
            </a: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, </a:t>
            </a:r>
            <a:r>
              <a:rPr lang="ko-KR" altLang="en-US" sz="1600" dirty="0" err="1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강직등의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 운동기능 제어에 관한 이상 현상을 보이며</a:t>
            </a: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이를 예측하는 임상 진단 기준이 주관적이고 모호하다</a:t>
            </a: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.</a:t>
            </a:r>
            <a:endParaRPr lang="en-US" altLang="ko-KR" sz="1600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61FBF6-7121-4370-8CFA-4937B1D1BF13}"/>
              </a:ext>
            </a:extLst>
          </p:cNvPr>
          <p:cNvSpPr/>
          <p:nvPr/>
        </p:nvSpPr>
        <p:spPr>
          <a:xfrm>
            <a:off x="347828" y="5348994"/>
            <a:ext cx="7769035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▶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운동기능 제어의 이상현상을 진단하기 위해 정량적 지표를 제시하고</a:t>
            </a: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정량화된 데이터 저장을 통해 환자의 지속적 관찰을 가능케 하고자 한다</a:t>
            </a: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.</a:t>
            </a:r>
            <a:endParaRPr lang="en-US" altLang="ko-KR" sz="1600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511804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CF7B813-2B83-44A4-9CD5-B1D5E1DFF046}"/>
              </a:ext>
            </a:extLst>
          </p:cNvPr>
          <p:cNvSpPr/>
          <p:nvPr/>
        </p:nvSpPr>
        <p:spPr>
          <a:xfrm>
            <a:off x="589874" y="2645644"/>
            <a:ext cx="7769035" cy="783356"/>
          </a:xfrm>
          <a:prstGeom prst="rect">
            <a:avLst/>
          </a:prstGeom>
          <a:solidFill>
            <a:srgbClr val="54B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ABB23-1554-4959-B387-B4B64858A8BB}"/>
              </a:ext>
            </a:extLst>
          </p:cNvPr>
          <p:cNvSpPr/>
          <p:nvPr/>
        </p:nvSpPr>
        <p:spPr>
          <a:xfrm>
            <a:off x="1137838" y="2739804"/>
            <a:ext cx="7221070" cy="595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PD </a:t>
            </a:r>
            <a:r>
              <a:rPr lang="ko-KR" altLang="en-US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가능성 확인 </a:t>
            </a:r>
            <a:r>
              <a:rPr lang="en-US" altLang="ko-KR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- </a:t>
            </a:r>
            <a:r>
              <a:rPr lang="ko-KR" altLang="en-US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의사의 주관적 진단</a:t>
            </a:r>
            <a:endParaRPr lang="en-US" altLang="ko-KR" sz="2500" dirty="0">
              <a:solidFill>
                <a:srgbClr val="E2F0D9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917460B-BBF9-4B85-917F-156AD4A8E0B7}"/>
              </a:ext>
            </a:extLst>
          </p:cNvPr>
          <p:cNvSpPr/>
          <p:nvPr/>
        </p:nvSpPr>
        <p:spPr>
          <a:xfrm>
            <a:off x="589873" y="3982441"/>
            <a:ext cx="7769035" cy="783356"/>
          </a:xfrm>
          <a:prstGeom prst="rect">
            <a:avLst/>
          </a:prstGeom>
          <a:solidFill>
            <a:srgbClr val="54B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D65B2C2-EC6A-4A97-BED3-9457B9F1C3D6}"/>
              </a:ext>
            </a:extLst>
          </p:cNvPr>
          <p:cNvSpPr/>
          <p:nvPr/>
        </p:nvSpPr>
        <p:spPr>
          <a:xfrm>
            <a:off x="3322100" y="4037963"/>
            <a:ext cx="2608052" cy="595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PD</a:t>
            </a:r>
            <a:r>
              <a:rPr lang="ko-KR" altLang="en-US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 감별</a:t>
            </a:r>
            <a:endParaRPr lang="en-US" altLang="ko-KR" sz="2500" dirty="0">
              <a:solidFill>
                <a:srgbClr val="E2F0D9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0C02D9C-B908-4799-8738-9CC1F4FD6236}"/>
              </a:ext>
            </a:extLst>
          </p:cNvPr>
          <p:cNvSpPr/>
          <p:nvPr/>
        </p:nvSpPr>
        <p:spPr>
          <a:xfrm>
            <a:off x="589874" y="5319238"/>
            <a:ext cx="7769035" cy="783356"/>
          </a:xfrm>
          <a:prstGeom prst="rect">
            <a:avLst/>
          </a:prstGeom>
          <a:solidFill>
            <a:srgbClr val="54B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8A5EFEA-F3F3-45C3-927E-6A1F33A1A411}"/>
              </a:ext>
            </a:extLst>
          </p:cNvPr>
          <p:cNvSpPr/>
          <p:nvPr/>
        </p:nvSpPr>
        <p:spPr>
          <a:xfrm>
            <a:off x="3113670" y="5319238"/>
            <a:ext cx="3024912" cy="595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50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PD</a:t>
            </a:r>
            <a:r>
              <a:rPr lang="ko-KR" altLang="en-US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 진행 정도 확인</a:t>
            </a:r>
            <a:endParaRPr lang="en-US" altLang="ko-KR" sz="2500" dirty="0">
              <a:solidFill>
                <a:srgbClr val="E2F0D9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6A1D5EB0-BAB8-4AF5-B506-28ABC617CB36}"/>
              </a:ext>
            </a:extLst>
          </p:cNvPr>
          <p:cNvSpPr/>
          <p:nvPr/>
        </p:nvSpPr>
        <p:spPr>
          <a:xfrm>
            <a:off x="4407155" y="3534639"/>
            <a:ext cx="295835" cy="342162"/>
          </a:xfrm>
          <a:prstGeom prst="downArrow">
            <a:avLst/>
          </a:prstGeom>
          <a:solidFill>
            <a:srgbClr val="54B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화살표: 아래쪽 12">
            <a:extLst>
              <a:ext uri="{FF2B5EF4-FFF2-40B4-BE49-F238E27FC236}">
                <a16:creationId xmlns:a16="http://schemas.microsoft.com/office/drawing/2014/main" id="{11FC34A3-9854-49CB-82AF-B945872D23E1}"/>
              </a:ext>
            </a:extLst>
          </p:cNvPr>
          <p:cNvSpPr/>
          <p:nvPr/>
        </p:nvSpPr>
        <p:spPr>
          <a:xfrm>
            <a:off x="4407155" y="4875484"/>
            <a:ext cx="295835" cy="342162"/>
          </a:xfrm>
          <a:prstGeom prst="downArrow">
            <a:avLst/>
          </a:prstGeom>
          <a:solidFill>
            <a:srgbClr val="54B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AD5374-35B0-4E86-A8F0-E74CC6E286B6}"/>
              </a:ext>
            </a:extLst>
          </p:cNvPr>
          <p:cNvSpPr/>
          <p:nvPr/>
        </p:nvSpPr>
        <p:spPr>
          <a:xfrm>
            <a:off x="4626126" y="2807681"/>
            <a:ext cx="2796650" cy="5271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F39AC12-CF85-459B-A370-02DDBE428335}"/>
              </a:ext>
            </a:extLst>
          </p:cNvPr>
          <p:cNvSpPr/>
          <p:nvPr/>
        </p:nvSpPr>
        <p:spPr>
          <a:xfrm>
            <a:off x="4555072" y="2330906"/>
            <a:ext cx="20954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FF0000"/>
                </a:solidFill>
                <a:ea typeface="Noto Sans CJK KR Medium" pitchFamily="34" charset="-127"/>
              </a:rPr>
              <a:t>정량적 기준 필요</a:t>
            </a:r>
            <a:endParaRPr lang="ko-KR" altLang="en-US" sz="2000" b="1" dirty="0">
              <a:solidFill>
                <a:srgbClr val="FF0000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86F6527-1E1B-4BBF-A66D-DB9E870AF6F4}"/>
              </a:ext>
            </a:extLst>
          </p:cNvPr>
          <p:cNvSpPr/>
          <p:nvPr/>
        </p:nvSpPr>
        <p:spPr>
          <a:xfrm>
            <a:off x="6156338" y="1643331"/>
            <a:ext cx="19127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02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연구목표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884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021BD84B-0241-40BF-A485-290A0A2BB232}"/>
              </a:ext>
            </a:extLst>
          </p:cNvPr>
          <p:cNvSpPr/>
          <p:nvPr/>
        </p:nvSpPr>
        <p:spPr>
          <a:xfrm>
            <a:off x="589873" y="2649070"/>
            <a:ext cx="3918627" cy="1834030"/>
          </a:xfrm>
          <a:prstGeom prst="rect">
            <a:avLst/>
          </a:prstGeom>
          <a:solidFill>
            <a:srgbClr val="469C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2FA4F98-0F05-4BEC-8AD8-EC8F878EB2C0}"/>
              </a:ext>
            </a:extLst>
          </p:cNvPr>
          <p:cNvSpPr/>
          <p:nvPr/>
        </p:nvSpPr>
        <p:spPr>
          <a:xfrm>
            <a:off x="4838395" y="2649070"/>
            <a:ext cx="3740827" cy="1834030"/>
          </a:xfrm>
          <a:prstGeom prst="rect">
            <a:avLst/>
          </a:prstGeom>
          <a:solidFill>
            <a:srgbClr val="7AC4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F6B0E97-C35D-499B-B850-0E4FF8624A5D}"/>
              </a:ext>
            </a:extLst>
          </p:cNvPr>
          <p:cNvSpPr/>
          <p:nvPr/>
        </p:nvSpPr>
        <p:spPr>
          <a:xfrm>
            <a:off x="4838394" y="4769970"/>
            <a:ext cx="3740827" cy="1834030"/>
          </a:xfrm>
          <a:prstGeom prst="rect">
            <a:avLst/>
          </a:prstGeom>
          <a:solidFill>
            <a:srgbClr val="7AC4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8AB53AB-2054-46BB-9F17-4C1F0CBDD293}"/>
              </a:ext>
            </a:extLst>
          </p:cNvPr>
          <p:cNvSpPr/>
          <p:nvPr/>
        </p:nvSpPr>
        <p:spPr>
          <a:xfrm>
            <a:off x="589873" y="4769970"/>
            <a:ext cx="3918627" cy="1834030"/>
          </a:xfrm>
          <a:prstGeom prst="rect">
            <a:avLst/>
          </a:prstGeom>
          <a:solidFill>
            <a:srgbClr val="469C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ABB23-1554-4959-B387-B4B64858A8BB}"/>
              </a:ext>
            </a:extLst>
          </p:cNvPr>
          <p:cNvSpPr/>
          <p:nvPr/>
        </p:nvSpPr>
        <p:spPr>
          <a:xfrm>
            <a:off x="1456986" y="2868361"/>
            <a:ext cx="2184400" cy="1172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떨림</a:t>
            </a:r>
            <a:endParaRPr lang="en-US" altLang="ko-KR" sz="2500" dirty="0">
              <a:solidFill>
                <a:srgbClr val="E2F0D9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(Tremor)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5C30D22-81B9-468C-8DE7-D1ED8008E942}"/>
              </a:ext>
            </a:extLst>
          </p:cNvPr>
          <p:cNvSpPr/>
          <p:nvPr/>
        </p:nvSpPr>
        <p:spPr>
          <a:xfrm>
            <a:off x="5616608" y="2927326"/>
            <a:ext cx="2184400" cy="1172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경직</a:t>
            </a:r>
            <a:endParaRPr lang="en-US" altLang="ko-KR" sz="2500" dirty="0">
              <a:solidFill>
                <a:srgbClr val="E2F0D9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(Rigidity)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EE103FA-B592-4BC4-8F89-F339A40A6565}"/>
              </a:ext>
            </a:extLst>
          </p:cNvPr>
          <p:cNvSpPr/>
          <p:nvPr/>
        </p:nvSpPr>
        <p:spPr>
          <a:xfrm>
            <a:off x="5235608" y="5027084"/>
            <a:ext cx="2946400" cy="1172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자세 불안정</a:t>
            </a:r>
            <a:endParaRPr lang="en-US" altLang="ko-KR" sz="2500" dirty="0">
              <a:solidFill>
                <a:srgbClr val="E2F0D9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(</a:t>
            </a:r>
            <a:r>
              <a:rPr lang="en-US" altLang="ko-KR" sz="2500" dirty="0" err="1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Postual</a:t>
            </a:r>
            <a:r>
              <a:rPr lang="en-US" altLang="ko-KR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 Instability)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D504C76-8CE2-40A6-B2F5-4F25D9C36A34}"/>
              </a:ext>
            </a:extLst>
          </p:cNvPr>
          <p:cNvSpPr/>
          <p:nvPr/>
        </p:nvSpPr>
        <p:spPr>
          <a:xfrm>
            <a:off x="1456986" y="5027084"/>
            <a:ext cx="2184400" cy="11721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500" dirty="0" err="1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서동증</a:t>
            </a:r>
            <a:endParaRPr lang="en-US" altLang="ko-KR" sz="2500" dirty="0">
              <a:solidFill>
                <a:srgbClr val="E2F0D9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2500" dirty="0">
                <a:solidFill>
                  <a:srgbClr val="E2F0D9"/>
                </a:solidFill>
                <a:latin typeface="Noto Sans CJK KR Medium" pitchFamily="34" charset="-127"/>
                <a:ea typeface="Noto Sans CJK KR Medium" pitchFamily="34" charset="-127"/>
              </a:rPr>
              <a:t>(Bradykinesia)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E17E938-E6F9-48AE-961B-D9443FED5B9F}"/>
              </a:ext>
            </a:extLst>
          </p:cNvPr>
          <p:cNvSpPr/>
          <p:nvPr/>
        </p:nvSpPr>
        <p:spPr>
          <a:xfrm>
            <a:off x="6156338" y="1643331"/>
            <a:ext cx="19127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02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연구목표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856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947537" y="1667974"/>
            <a:ext cx="25539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 err="1">
                <a:solidFill>
                  <a:srgbClr val="70AD47">
                    <a:lumMod val="20000"/>
                    <a:lumOff val="80000"/>
                  </a:srgbClr>
                </a:solidFill>
                <a:ea typeface="Noto Sans CJK KR Medium" pitchFamily="34" charset="-127"/>
              </a:rPr>
              <a:t>서동증</a:t>
            </a:r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ea typeface="Noto Sans CJK KR Medium" pitchFamily="34" charset="-127"/>
              </a:rPr>
              <a:t>,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ea typeface="Noto Sans CJK KR Medium" pitchFamily="34" charset="-127"/>
              </a:rPr>
              <a:t>떨림 측정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720E627-72C7-4558-A70B-CFBEC9F9DC88}"/>
              </a:ext>
            </a:extLst>
          </p:cNvPr>
          <p:cNvSpPr/>
          <p:nvPr/>
        </p:nvSpPr>
        <p:spPr>
          <a:xfrm>
            <a:off x="734273" y="3422359"/>
            <a:ext cx="1863376" cy="1741033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D5D02FB-4A3E-425C-8B29-03AAB44681FE}"/>
              </a:ext>
            </a:extLst>
          </p:cNvPr>
          <p:cNvSpPr/>
          <p:nvPr/>
        </p:nvSpPr>
        <p:spPr>
          <a:xfrm>
            <a:off x="601754" y="3298322"/>
            <a:ext cx="2103360" cy="2006815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44744CC-E545-48F5-A8FD-9B34DE8E65A4}"/>
              </a:ext>
            </a:extLst>
          </p:cNvPr>
          <p:cNvSpPr/>
          <p:nvPr/>
        </p:nvSpPr>
        <p:spPr>
          <a:xfrm>
            <a:off x="3351151" y="3422359"/>
            <a:ext cx="1863376" cy="1741033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D497C73-71CE-47E0-9239-30462AB7431E}"/>
              </a:ext>
            </a:extLst>
          </p:cNvPr>
          <p:cNvSpPr/>
          <p:nvPr/>
        </p:nvSpPr>
        <p:spPr>
          <a:xfrm>
            <a:off x="3218632" y="3298322"/>
            <a:ext cx="2103360" cy="2006815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109E53F-4C4A-4E52-98AD-F09815FF626B}"/>
              </a:ext>
            </a:extLst>
          </p:cNvPr>
          <p:cNvSpPr/>
          <p:nvPr/>
        </p:nvSpPr>
        <p:spPr>
          <a:xfrm>
            <a:off x="5974171" y="3422359"/>
            <a:ext cx="1863376" cy="1741033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A5D2085-02E4-4B1F-8D12-6D82CA8F5854}"/>
              </a:ext>
            </a:extLst>
          </p:cNvPr>
          <p:cNvSpPr/>
          <p:nvPr/>
        </p:nvSpPr>
        <p:spPr>
          <a:xfrm>
            <a:off x="5841652" y="3298322"/>
            <a:ext cx="2103360" cy="2006815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F24DB-E2F0-420B-895A-B289D7EADF01}"/>
              </a:ext>
            </a:extLst>
          </p:cNvPr>
          <p:cNvSpPr txBox="1"/>
          <p:nvPr/>
        </p:nvSpPr>
        <p:spPr>
          <a:xfrm>
            <a:off x="5866197" y="4006403"/>
            <a:ext cx="2079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단위 시간당</a:t>
            </a:r>
            <a:endParaRPr lang="en-US" altLang="ko-KR" sz="2000" b="1" dirty="0">
              <a:solidFill>
                <a:srgbClr val="E2F0D9"/>
              </a:solidFill>
            </a:endParaRPr>
          </a:p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속도 추출</a:t>
            </a:r>
            <a:endParaRPr lang="en-US" altLang="ko-KR" sz="2000" b="1" dirty="0">
              <a:solidFill>
                <a:srgbClr val="E2F0D9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5D168-2672-49E7-978C-B3374D395AC2}"/>
              </a:ext>
            </a:extLst>
          </p:cNvPr>
          <p:cNvSpPr txBox="1"/>
          <p:nvPr/>
        </p:nvSpPr>
        <p:spPr>
          <a:xfrm>
            <a:off x="625791" y="4006403"/>
            <a:ext cx="2079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터치 인식 </a:t>
            </a:r>
            <a:endParaRPr lang="en-US" altLang="ko-KR" sz="2000" b="1" dirty="0">
              <a:solidFill>
                <a:srgbClr val="E2F0D9"/>
              </a:solidFill>
            </a:endParaRPr>
          </a:p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기능 활용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5FCACA-DF53-411A-9B96-97C69B870369}"/>
              </a:ext>
            </a:extLst>
          </p:cNvPr>
          <p:cNvSpPr txBox="1"/>
          <p:nvPr/>
        </p:nvSpPr>
        <p:spPr>
          <a:xfrm>
            <a:off x="3233287" y="4021017"/>
            <a:ext cx="2079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스크린 터치</a:t>
            </a:r>
            <a:endParaRPr lang="en-US" altLang="ko-KR" sz="2000" b="1" dirty="0">
              <a:solidFill>
                <a:srgbClr val="E2F0D9"/>
              </a:solidFill>
            </a:endParaRPr>
          </a:p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좌표 값 획득</a:t>
            </a:r>
          </a:p>
        </p:txBody>
      </p:sp>
    </p:spTree>
    <p:extLst>
      <p:ext uri="{BB962C8B-B14F-4D97-AF65-F5344CB8AC3E}">
        <p14:creationId xmlns:p14="http://schemas.microsoft.com/office/powerpoint/2010/main" val="39517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557106" y="1659971"/>
            <a:ext cx="32383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ea typeface="Noto Sans CJK KR Medium" pitchFamily="34" charset="-127"/>
              </a:rPr>
              <a:t>경직</a:t>
            </a:r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ea typeface="Noto Sans CJK KR Medium" pitchFamily="34" charset="-127"/>
              </a:rPr>
              <a:t>,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ea typeface="Noto Sans CJK KR Medium" pitchFamily="34" charset="-127"/>
              </a:rPr>
              <a:t>자세 불안정</a:t>
            </a:r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ea typeface="Noto Sans CJK KR Medium" pitchFamily="34" charset="-127"/>
              </a:rPr>
              <a:t>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ea typeface="Noto Sans CJK KR Medium" pitchFamily="34" charset="-127"/>
              </a:rPr>
              <a:t>측정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C720E627-72C7-4558-A70B-CFBEC9F9DC88}"/>
              </a:ext>
            </a:extLst>
          </p:cNvPr>
          <p:cNvSpPr/>
          <p:nvPr/>
        </p:nvSpPr>
        <p:spPr>
          <a:xfrm>
            <a:off x="734273" y="3422359"/>
            <a:ext cx="1863376" cy="1741033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4D5D02FB-4A3E-425C-8B29-03AAB44681FE}"/>
              </a:ext>
            </a:extLst>
          </p:cNvPr>
          <p:cNvSpPr/>
          <p:nvPr/>
        </p:nvSpPr>
        <p:spPr>
          <a:xfrm>
            <a:off x="601754" y="3298322"/>
            <a:ext cx="2103360" cy="2006815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644744CC-E545-48F5-A8FD-9B34DE8E65A4}"/>
              </a:ext>
            </a:extLst>
          </p:cNvPr>
          <p:cNvSpPr/>
          <p:nvPr/>
        </p:nvSpPr>
        <p:spPr>
          <a:xfrm>
            <a:off x="3351151" y="3422359"/>
            <a:ext cx="1863376" cy="1741033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ED497C73-71CE-47E0-9239-30462AB7431E}"/>
              </a:ext>
            </a:extLst>
          </p:cNvPr>
          <p:cNvSpPr/>
          <p:nvPr/>
        </p:nvSpPr>
        <p:spPr>
          <a:xfrm>
            <a:off x="3218632" y="3298322"/>
            <a:ext cx="2103360" cy="2006815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0109E53F-4C4A-4E52-98AD-F09815FF626B}"/>
              </a:ext>
            </a:extLst>
          </p:cNvPr>
          <p:cNvSpPr/>
          <p:nvPr/>
        </p:nvSpPr>
        <p:spPr>
          <a:xfrm>
            <a:off x="5974171" y="3422359"/>
            <a:ext cx="1863376" cy="1741033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7A5D2085-02E4-4B1F-8D12-6D82CA8F5854}"/>
              </a:ext>
            </a:extLst>
          </p:cNvPr>
          <p:cNvSpPr/>
          <p:nvPr/>
        </p:nvSpPr>
        <p:spPr>
          <a:xfrm>
            <a:off x="5841652" y="3298322"/>
            <a:ext cx="2103360" cy="2006815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5F24DB-E2F0-420B-895A-B289D7EADF01}"/>
              </a:ext>
            </a:extLst>
          </p:cNvPr>
          <p:cNvSpPr txBox="1"/>
          <p:nvPr/>
        </p:nvSpPr>
        <p:spPr>
          <a:xfrm>
            <a:off x="5866197" y="3852515"/>
            <a:ext cx="20793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그래프 </a:t>
            </a:r>
            <a:endParaRPr lang="en-US" altLang="ko-KR" sz="2000" b="1" dirty="0">
              <a:solidFill>
                <a:srgbClr val="E2F0D9"/>
              </a:solidFill>
            </a:endParaRPr>
          </a:p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라이브러리</a:t>
            </a:r>
            <a:endParaRPr lang="en-US" altLang="ko-KR" sz="2000" b="1" dirty="0">
              <a:solidFill>
                <a:srgbClr val="E2F0D9"/>
              </a:solidFill>
            </a:endParaRPr>
          </a:p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활용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35D168-2672-49E7-978C-B3374D395AC2}"/>
              </a:ext>
            </a:extLst>
          </p:cNvPr>
          <p:cNvSpPr txBox="1"/>
          <p:nvPr/>
        </p:nvSpPr>
        <p:spPr>
          <a:xfrm>
            <a:off x="625791" y="4006403"/>
            <a:ext cx="2079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 err="1">
                <a:solidFill>
                  <a:srgbClr val="E2F0D9"/>
                </a:solidFill>
              </a:rPr>
              <a:t>자이로</a:t>
            </a:r>
            <a:r>
              <a:rPr lang="ko-KR" altLang="en-US" sz="2000" b="1" dirty="0">
                <a:solidFill>
                  <a:srgbClr val="E2F0D9"/>
                </a:solidFill>
              </a:rPr>
              <a:t> 회전</a:t>
            </a:r>
            <a:endParaRPr lang="en-US" altLang="ko-KR" sz="2000" b="1" dirty="0">
              <a:solidFill>
                <a:srgbClr val="E2F0D9"/>
              </a:solidFill>
            </a:endParaRPr>
          </a:p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센서 활용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5FCACA-DF53-411A-9B96-97C69B870369}"/>
              </a:ext>
            </a:extLst>
          </p:cNvPr>
          <p:cNvSpPr txBox="1"/>
          <p:nvPr/>
        </p:nvSpPr>
        <p:spPr>
          <a:xfrm>
            <a:off x="3233287" y="4021017"/>
            <a:ext cx="2079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가속도 센서</a:t>
            </a:r>
            <a:endParaRPr lang="en-US" altLang="ko-KR" sz="2000" b="1" dirty="0">
              <a:solidFill>
                <a:srgbClr val="E2F0D9"/>
              </a:solidFill>
            </a:endParaRPr>
          </a:p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 활용</a:t>
            </a:r>
          </a:p>
        </p:txBody>
      </p:sp>
    </p:spTree>
    <p:extLst>
      <p:ext uri="{BB962C8B-B14F-4D97-AF65-F5344CB8AC3E}">
        <p14:creationId xmlns:p14="http://schemas.microsoft.com/office/powerpoint/2010/main" val="451204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B86D5677-44C2-4442-AB7E-743AE199674D}"/>
              </a:ext>
            </a:extLst>
          </p:cNvPr>
          <p:cNvSpPr/>
          <p:nvPr/>
        </p:nvSpPr>
        <p:spPr>
          <a:xfrm>
            <a:off x="914398" y="3020931"/>
            <a:ext cx="2480154" cy="2317315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F38328-E946-40DD-9E4C-0D0B0683E881}"/>
              </a:ext>
            </a:extLst>
          </p:cNvPr>
          <p:cNvSpPr txBox="1"/>
          <p:nvPr/>
        </p:nvSpPr>
        <p:spPr>
          <a:xfrm>
            <a:off x="1114813" y="3856422"/>
            <a:ext cx="2079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임상 진단을 위한 정량적 지표 제공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DAD01A-A783-462C-9D5F-ED34C4F5639D}"/>
              </a:ext>
            </a:extLst>
          </p:cNvPr>
          <p:cNvSpPr txBox="1"/>
          <p:nvPr/>
        </p:nvSpPr>
        <p:spPr>
          <a:xfrm>
            <a:off x="3970749" y="3530950"/>
            <a:ext cx="106993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600" b="1" dirty="0">
                <a:solidFill>
                  <a:srgbClr val="35957A"/>
                </a:solidFill>
              </a:rPr>
              <a:t>+</a:t>
            </a:r>
            <a:endParaRPr lang="ko-KR" altLang="en-US" sz="6600" b="1" dirty="0">
              <a:solidFill>
                <a:srgbClr val="35957A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0DF560BA-9219-4045-9967-95DE6D6084B5}"/>
              </a:ext>
            </a:extLst>
          </p:cNvPr>
          <p:cNvSpPr/>
          <p:nvPr/>
        </p:nvSpPr>
        <p:spPr>
          <a:xfrm>
            <a:off x="5218057" y="3020931"/>
            <a:ext cx="2480154" cy="2317315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4A64EB-75B2-4EE5-AE07-C52BB90822FC}"/>
              </a:ext>
            </a:extLst>
          </p:cNvPr>
          <p:cNvSpPr txBox="1"/>
          <p:nvPr/>
        </p:nvSpPr>
        <p:spPr>
          <a:xfrm>
            <a:off x="5340184" y="3856422"/>
            <a:ext cx="22358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b="1" dirty="0">
                <a:solidFill>
                  <a:srgbClr val="E2F0D9"/>
                </a:solidFill>
              </a:rPr>
              <a:t>조기 진단 및 증상 진행 판단 지원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716CED71-B225-41B7-A5FA-74486C636D7E}"/>
              </a:ext>
            </a:extLst>
          </p:cNvPr>
          <p:cNvSpPr/>
          <p:nvPr/>
        </p:nvSpPr>
        <p:spPr>
          <a:xfrm>
            <a:off x="742163" y="2852907"/>
            <a:ext cx="2799570" cy="2671071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102E567A-6A45-49C0-BBDA-4262CFF75FA9}"/>
              </a:ext>
            </a:extLst>
          </p:cNvPr>
          <p:cNvSpPr/>
          <p:nvPr/>
        </p:nvSpPr>
        <p:spPr>
          <a:xfrm>
            <a:off x="5058348" y="2852907"/>
            <a:ext cx="2799570" cy="2671071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8571EB-0E23-4550-9D24-DBC48771FD3E}"/>
              </a:ext>
            </a:extLst>
          </p:cNvPr>
          <p:cNvSpPr/>
          <p:nvPr/>
        </p:nvSpPr>
        <p:spPr>
          <a:xfrm>
            <a:off x="6180384" y="1643331"/>
            <a:ext cx="18646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03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연구효과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623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515255" y="1643421"/>
            <a:ext cx="33137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04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연구과제 기능 개요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BBBFD47-6AAE-4BCB-A189-2063E1232C0E}"/>
              </a:ext>
            </a:extLst>
          </p:cNvPr>
          <p:cNvSpPr/>
          <p:nvPr/>
        </p:nvSpPr>
        <p:spPr>
          <a:xfrm>
            <a:off x="1111915" y="2933742"/>
            <a:ext cx="7769035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▶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사용자 정보 및 측정 결과 저장위한 데이터 베이스 구현 </a:t>
            </a:r>
            <a:endParaRPr lang="en-US" altLang="ko-KR" sz="1600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B0DFC4-FADB-4127-AE43-A130FCD7A4B0}"/>
              </a:ext>
            </a:extLst>
          </p:cNvPr>
          <p:cNvSpPr/>
          <p:nvPr/>
        </p:nvSpPr>
        <p:spPr>
          <a:xfrm>
            <a:off x="1111914" y="3764739"/>
            <a:ext cx="7769035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▶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스마트폰 센서 활용한 운동기능 제어 이상현상 측정</a:t>
            </a:r>
            <a:endParaRPr lang="en-US" altLang="ko-KR" sz="1600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40DC1BD-1FBC-42FC-878E-D3975EA9F287}"/>
              </a:ext>
            </a:extLst>
          </p:cNvPr>
          <p:cNvSpPr/>
          <p:nvPr/>
        </p:nvSpPr>
        <p:spPr>
          <a:xfrm>
            <a:off x="1111914" y="4599488"/>
            <a:ext cx="7769035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▶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안드로이드 라이브러리를 활용하여 측정 결과를 그래프로 제시</a:t>
            </a:r>
            <a:endParaRPr lang="en-US" altLang="ko-KR" sz="1600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5284A9D-DE84-4864-A0AA-D32704504C46}"/>
              </a:ext>
            </a:extLst>
          </p:cNvPr>
          <p:cNvSpPr/>
          <p:nvPr/>
        </p:nvSpPr>
        <p:spPr>
          <a:xfrm>
            <a:off x="1111914" y="5502677"/>
            <a:ext cx="7769035" cy="414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▶ </a:t>
            </a:r>
            <a:r>
              <a:rPr lang="ko-KR" altLang="en-US" sz="1600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  <a:sym typeface="Wingdings" panose="05000000000000000000" pitchFamily="2" charset="2"/>
              </a:rPr>
              <a:t>측정 결과 데이터 전송 위한 서버 구현</a:t>
            </a:r>
            <a:endParaRPr lang="en-US" altLang="ko-KR" sz="1600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8930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5888436" y="1642329"/>
            <a:ext cx="26981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05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기능 세부 사항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4CA568C-22AB-4414-A033-136FBAF028AD}"/>
              </a:ext>
            </a:extLst>
          </p:cNvPr>
          <p:cNvSpPr/>
          <p:nvPr/>
        </p:nvSpPr>
        <p:spPr>
          <a:xfrm>
            <a:off x="3369501" y="1686814"/>
            <a:ext cx="1077238" cy="410661"/>
          </a:xfrm>
          <a:prstGeom prst="roundRect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837334-E2C8-4E03-8A4C-76887F1BE7BB}"/>
              </a:ext>
            </a:extLst>
          </p:cNvPr>
          <p:cNvSpPr txBox="1"/>
          <p:nvPr/>
        </p:nvSpPr>
        <p:spPr>
          <a:xfrm>
            <a:off x="3382027" y="1728437"/>
            <a:ext cx="10772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2F0D9"/>
                </a:solidFill>
              </a:rPr>
              <a:t>앱</a:t>
            </a:r>
            <a:r>
              <a:rPr lang="ko-KR" altLang="en-US" sz="1600" b="1" dirty="0"/>
              <a:t> </a:t>
            </a:r>
            <a:r>
              <a:rPr lang="ko-KR" altLang="en-US" sz="1600" b="1" dirty="0">
                <a:solidFill>
                  <a:srgbClr val="E2F0D9"/>
                </a:solidFill>
              </a:rPr>
              <a:t>실행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64E5A031-AB59-40C1-8673-7E5BE63B231D}"/>
              </a:ext>
            </a:extLst>
          </p:cNvPr>
          <p:cNvSpPr/>
          <p:nvPr/>
        </p:nvSpPr>
        <p:spPr>
          <a:xfrm>
            <a:off x="3256767" y="2271600"/>
            <a:ext cx="1290180" cy="41066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30C21FD-B1B7-4838-B0F8-5268FFDE5500}"/>
              </a:ext>
            </a:extLst>
          </p:cNvPr>
          <p:cNvCxnSpPr>
            <a:cxnSpLocks/>
          </p:cNvCxnSpPr>
          <p:nvPr/>
        </p:nvCxnSpPr>
        <p:spPr>
          <a:xfrm flipH="1">
            <a:off x="3914383" y="2062415"/>
            <a:ext cx="6263" cy="181614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99F2E7D-DD79-49B5-8FC6-8DEB9D179009}"/>
              </a:ext>
            </a:extLst>
          </p:cNvPr>
          <p:cNvSpPr txBox="1"/>
          <p:nvPr/>
        </p:nvSpPr>
        <p:spPr>
          <a:xfrm>
            <a:off x="3256767" y="2309286"/>
            <a:ext cx="1290180" cy="3385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35957A"/>
                </a:solidFill>
              </a:rPr>
              <a:t>초기화면</a:t>
            </a:r>
          </a:p>
        </p:txBody>
      </p:sp>
      <p:sp>
        <p:nvSpPr>
          <p:cNvPr id="10" name="다이아몬드 9">
            <a:extLst>
              <a:ext uri="{FF2B5EF4-FFF2-40B4-BE49-F238E27FC236}">
                <a16:creationId xmlns:a16="http://schemas.microsoft.com/office/drawing/2014/main" id="{321505D3-9E60-4903-9380-C81CDD6A8BE2}"/>
              </a:ext>
            </a:extLst>
          </p:cNvPr>
          <p:cNvSpPr/>
          <p:nvPr/>
        </p:nvSpPr>
        <p:spPr>
          <a:xfrm>
            <a:off x="5109050" y="2970380"/>
            <a:ext cx="1830370" cy="467547"/>
          </a:xfrm>
          <a:prstGeom prst="diamond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CA84DD-1946-42A9-986C-3E7A16B6EDBC}"/>
              </a:ext>
            </a:extLst>
          </p:cNvPr>
          <p:cNvSpPr txBox="1"/>
          <p:nvPr/>
        </p:nvSpPr>
        <p:spPr>
          <a:xfrm>
            <a:off x="5379145" y="3040446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2F0D9"/>
                </a:solidFill>
              </a:rPr>
              <a:t>로그인</a:t>
            </a:r>
          </a:p>
        </p:txBody>
      </p:sp>
      <p:sp>
        <p:nvSpPr>
          <p:cNvPr id="12" name="다이아몬드 11">
            <a:extLst>
              <a:ext uri="{FF2B5EF4-FFF2-40B4-BE49-F238E27FC236}">
                <a16:creationId xmlns:a16="http://schemas.microsoft.com/office/drawing/2014/main" id="{CE0BC379-E4EA-4390-BD8E-19C1C6065A40}"/>
              </a:ext>
            </a:extLst>
          </p:cNvPr>
          <p:cNvSpPr/>
          <p:nvPr/>
        </p:nvSpPr>
        <p:spPr>
          <a:xfrm>
            <a:off x="839772" y="2984994"/>
            <a:ext cx="1830370" cy="467547"/>
          </a:xfrm>
          <a:prstGeom prst="diamond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D1666D-6192-485D-BBB8-2230F17F3211}"/>
              </a:ext>
            </a:extLst>
          </p:cNvPr>
          <p:cNvSpPr txBox="1"/>
          <p:nvPr/>
        </p:nvSpPr>
        <p:spPr>
          <a:xfrm>
            <a:off x="1109867" y="3055060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2F0D9"/>
                </a:solidFill>
              </a:rPr>
              <a:t>회원등록</a:t>
            </a: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83E162B7-D425-485E-8B83-38D424376B36}"/>
              </a:ext>
            </a:extLst>
          </p:cNvPr>
          <p:cNvCxnSpPr>
            <a:cxnSpLocks/>
          </p:cNvCxnSpPr>
          <p:nvPr/>
        </p:nvCxnSpPr>
        <p:spPr>
          <a:xfrm>
            <a:off x="3901857" y="2676362"/>
            <a:ext cx="0" cy="127323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C7E8C510-CD82-4DEC-B870-9127587D1FD1}"/>
              </a:ext>
            </a:extLst>
          </p:cNvPr>
          <p:cNvCxnSpPr/>
          <p:nvPr/>
        </p:nvCxnSpPr>
        <p:spPr>
          <a:xfrm>
            <a:off x="1747380" y="2824574"/>
            <a:ext cx="4308954" cy="0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C98F148-84E1-4400-9A0D-9E280B5B768C}"/>
              </a:ext>
            </a:extLst>
          </p:cNvPr>
          <p:cNvCxnSpPr>
            <a:cxnSpLocks/>
          </p:cNvCxnSpPr>
          <p:nvPr/>
        </p:nvCxnSpPr>
        <p:spPr>
          <a:xfrm flipH="1">
            <a:off x="1736947" y="2819297"/>
            <a:ext cx="6263" cy="15009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4AE440D8-5A3B-46F3-8629-41429F7EAB48}"/>
              </a:ext>
            </a:extLst>
          </p:cNvPr>
          <p:cNvCxnSpPr>
            <a:cxnSpLocks/>
          </p:cNvCxnSpPr>
          <p:nvPr/>
        </p:nvCxnSpPr>
        <p:spPr>
          <a:xfrm flipH="1">
            <a:off x="6035453" y="2821385"/>
            <a:ext cx="6263" cy="15009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F2BDE810-5A13-437E-98B2-4A60CDDDEB5C}"/>
              </a:ext>
            </a:extLst>
          </p:cNvPr>
          <p:cNvCxnSpPr/>
          <p:nvPr/>
        </p:nvCxnSpPr>
        <p:spPr>
          <a:xfrm>
            <a:off x="6926061" y="3189916"/>
            <a:ext cx="168664" cy="0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73F9346-0145-4AF6-86BA-B33A5D62B6DF}"/>
              </a:ext>
            </a:extLst>
          </p:cNvPr>
          <p:cNvCxnSpPr/>
          <p:nvPr/>
        </p:nvCxnSpPr>
        <p:spPr>
          <a:xfrm>
            <a:off x="699866" y="3217056"/>
            <a:ext cx="224491" cy="0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12FE069-6B9C-42E9-8A13-89C3AC58F15E}"/>
              </a:ext>
            </a:extLst>
          </p:cNvPr>
          <p:cNvCxnSpPr>
            <a:cxnSpLocks/>
          </p:cNvCxnSpPr>
          <p:nvPr/>
        </p:nvCxnSpPr>
        <p:spPr>
          <a:xfrm>
            <a:off x="697289" y="2513417"/>
            <a:ext cx="0" cy="707908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0DE52417-4CA3-4288-87C1-26FF10BC0B36}"/>
              </a:ext>
            </a:extLst>
          </p:cNvPr>
          <p:cNvCxnSpPr>
            <a:cxnSpLocks/>
          </p:cNvCxnSpPr>
          <p:nvPr/>
        </p:nvCxnSpPr>
        <p:spPr>
          <a:xfrm>
            <a:off x="7094208" y="2538194"/>
            <a:ext cx="0" cy="643553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F4F76F83-2090-4545-AC85-C96CDFCFF9C0}"/>
              </a:ext>
            </a:extLst>
          </p:cNvPr>
          <p:cNvCxnSpPr>
            <a:cxnSpLocks/>
          </p:cNvCxnSpPr>
          <p:nvPr/>
        </p:nvCxnSpPr>
        <p:spPr>
          <a:xfrm flipV="1">
            <a:off x="697289" y="2516988"/>
            <a:ext cx="2459269" cy="1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5CC702BC-9961-4526-8CEE-C1CF3742A61C}"/>
              </a:ext>
            </a:extLst>
          </p:cNvPr>
          <p:cNvCxnSpPr/>
          <p:nvPr/>
        </p:nvCxnSpPr>
        <p:spPr>
          <a:xfrm flipH="1" flipV="1">
            <a:off x="4647156" y="2515287"/>
            <a:ext cx="2447049" cy="14227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919527F-6820-4E5C-AE99-A1C27B51878B}"/>
              </a:ext>
            </a:extLst>
          </p:cNvPr>
          <p:cNvSpPr txBox="1"/>
          <p:nvPr/>
        </p:nvSpPr>
        <p:spPr>
          <a:xfrm>
            <a:off x="6809594" y="2885379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83303EC-41A7-4362-A7F9-9BAF9A96A760}"/>
              </a:ext>
            </a:extLst>
          </p:cNvPr>
          <p:cNvSpPr txBox="1"/>
          <p:nvPr/>
        </p:nvSpPr>
        <p:spPr>
          <a:xfrm>
            <a:off x="672363" y="2902916"/>
            <a:ext cx="33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FC04749-4B0F-4FCC-A20A-411C2FB400E2}"/>
              </a:ext>
            </a:extLst>
          </p:cNvPr>
          <p:cNvCxnSpPr>
            <a:cxnSpLocks/>
          </p:cNvCxnSpPr>
          <p:nvPr/>
        </p:nvCxnSpPr>
        <p:spPr>
          <a:xfrm flipH="1">
            <a:off x="1736947" y="3404785"/>
            <a:ext cx="6263" cy="181614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654212E1-8E19-4B49-9490-E7C42CA584C0}"/>
              </a:ext>
            </a:extLst>
          </p:cNvPr>
          <p:cNvCxnSpPr>
            <a:cxnSpLocks/>
          </p:cNvCxnSpPr>
          <p:nvPr/>
        </p:nvCxnSpPr>
        <p:spPr>
          <a:xfrm flipH="1">
            <a:off x="6022927" y="3394347"/>
            <a:ext cx="6263" cy="181614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B7C8FE9F-7452-4297-9D02-509B0A8EC0D6}"/>
              </a:ext>
            </a:extLst>
          </p:cNvPr>
          <p:cNvSpPr txBox="1"/>
          <p:nvPr/>
        </p:nvSpPr>
        <p:spPr>
          <a:xfrm>
            <a:off x="1439570" y="3334140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5399B4-B8A5-4A3C-936F-7599BED9A624}"/>
              </a:ext>
            </a:extLst>
          </p:cNvPr>
          <p:cNvSpPr txBox="1"/>
          <p:nvPr/>
        </p:nvSpPr>
        <p:spPr>
          <a:xfrm>
            <a:off x="6022927" y="3328937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39" name="다이아몬드 38">
            <a:extLst>
              <a:ext uri="{FF2B5EF4-FFF2-40B4-BE49-F238E27FC236}">
                <a16:creationId xmlns:a16="http://schemas.microsoft.com/office/drawing/2014/main" id="{4B6AE9F7-A3C5-48AF-9F96-234C32834838}"/>
              </a:ext>
            </a:extLst>
          </p:cNvPr>
          <p:cNvSpPr/>
          <p:nvPr/>
        </p:nvSpPr>
        <p:spPr>
          <a:xfrm>
            <a:off x="3084014" y="3590004"/>
            <a:ext cx="1830370" cy="514302"/>
          </a:xfrm>
          <a:prstGeom prst="diamond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12AF332-3E44-4E67-AFFE-DDC7DA4B4B3C}"/>
              </a:ext>
            </a:extLst>
          </p:cNvPr>
          <p:cNvSpPr txBox="1"/>
          <p:nvPr/>
        </p:nvSpPr>
        <p:spPr>
          <a:xfrm>
            <a:off x="3354109" y="3691942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2F0D9"/>
                </a:solidFill>
              </a:rPr>
              <a:t>정보 저장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2178A38-CAA0-4DBB-909C-C9CF20D2456F}"/>
              </a:ext>
            </a:extLst>
          </p:cNvPr>
          <p:cNvSpPr/>
          <p:nvPr/>
        </p:nvSpPr>
        <p:spPr>
          <a:xfrm>
            <a:off x="1129435" y="3633480"/>
            <a:ext cx="1290180" cy="4969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31BD70-3D3B-4D6C-8C05-EDD6AAD95908}"/>
              </a:ext>
            </a:extLst>
          </p:cNvPr>
          <p:cNvSpPr txBox="1"/>
          <p:nvPr/>
        </p:nvSpPr>
        <p:spPr>
          <a:xfrm>
            <a:off x="1050634" y="3587620"/>
            <a:ext cx="14258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35957A"/>
                </a:solidFill>
              </a:rPr>
              <a:t>회원정보</a:t>
            </a:r>
            <a:endParaRPr lang="en-US" altLang="ko-KR" sz="1600" b="1" dirty="0">
              <a:solidFill>
                <a:srgbClr val="35957A"/>
              </a:solidFill>
            </a:endParaRPr>
          </a:p>
          <a:p>
            <a:pPr algn="ctr"/>
            <a:r>
              <a:rPr lang="ko-KR" altLang="en-US" sz="1600" b="1" dirty="0">
                <a:solidFill>
                  <a:srgbClr val="35957A"/>
                </a:solidFill>
              </a:rPr>
              <a:t> 입력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984F947B-765E-4ED7-863D-B4BA52010EE1}"/>
              </a:ext>
            </a:extLst>
          </p:cNvPr>
          <p:cNvCxnSpPr>
            <a:cxnSpLocks/>
          </p:cNvCxnSpPr>
          <p:nvPr/>
        </p:nvCxnSpPr>
        <p:spPr>
          <a:xfrm>
            <a:off x="2419615" y="3861890"/>
            <a:ext cx="557927" cy="6523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6B998E51-825E-40E1-A4B7-BB20DB232EE2}"/>
              </a:ext>
            </a:extLst>
          </p:cNvPr>
          <p:cNvCxnSpPr>
            <a:cxnSpLocks/>
          </p:cNvCxnSpPr>
          <p:nvPr/>
        </p:nvCxnSpPr>
        <p:spPr>
          <a:xfrm>
            <a:off x="3989539" y="3499403"/>
            <a:ext cx="0" cy="86963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390B0DE1-C944-4566-8631-E03F1BBE0ED1}"/>
              </a:ext>
            </a:extLst>
          </p:cNvPr>
          <p:cNvCxnSpPr/>
          <p:nvPr/>
        </p:nvCxnSpPr>
        <p:spPr>
          <a:xfrm flipH="1" flipV="1">
            <a:off x="1966364" y="3472799"/>
            <a:ext cx="2022356" cy="11758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965E9A2A-4E1D-432F-9F84-6EF8A7AA653C}"/>
              </a:ext>
            </a:extLst>
          </p:cNvPr>
          <p:cNvSpPr/>
          <p:nvPr/>
        </p:nvSpPr>
        <p:spPr>
          <a:xfrm>
            <a:off x="5425853" y="3601444"/>
            <a:ext cx="1290180" cy="41066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31F86F4-BE39-4F2B-80AB-EE622E06053D}"/>
              </a:ext>
            </a:extLst>
          </p:cNvPr>
          <p:cNvSpPr txBox="1"/>
          <p:nvPr/>
        </p:nvSpPr>
        <p:spPr>
          <a:xfrm>
            <a:off x="5503009" y="3631123"/>
            <a:ext cx="111621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35957A"/>
                </a:solidFill>
              </a:rPr>
              <a:t>선택화면</a:t>
            </a: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8CCC98DF-8524-4A32-B719-7F7A17E7E56D}"/>
              </a:ext>
            </a:extLst>
          </p:cNvPr>
          <p:cNvCxnSpPr>
            <a:cxnSpLocks/>
          </p:cNvCxnSpPr>
          <p:nvPr/>
        </p:nvCxnSpPr>
        <p:spPr>
          <a:xfrm>
            <a:off x="4814169" y="3838926"/>
            <a:ext cx="557927" cy="6523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F95B5D4-3050-4F53-92CA-EE62C226FCCD}"/>
              </a:ext>
            </a:extLst>
          </p:cNvPr>
          <p:cNvSpPr txBox="1"/>
          <p:nvPr/>
        </p:nvSpPr>
        <p:spPr>
          <a:xfrm>
            <a:off x="4805727" y="3541667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453BFA4-E28C-4EF3-95AE-E12C325BC0C6}"/>
              </a:ext>
            </a:extLst>
          </p:cNvPr>
          <p:cNvSpPr txBox="1"/>
          <p:nvPr/>
        </p:nvSpPr>
        <p:spPr>
          <a:xfrm>
            <a:off x="3958224" y="3301986"/>
            <a:ext cx="443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52" name="다이아몬드 51">
            <a:extLst>
              <a:ext uri="{FF2B5EF4-FFF2-40B4-BE49-F238E27FC236}">
                <a16:creationId xmlns:a16="http://schemas.microsoft.com/office/drawing/2014/main" id="{356EA9F1-E1D5-4DB0-85C8-15580C26B73F}"/>
              </a:ext>
            </a:extLst>
          </p:cNvPr>
          <p:cNvSpPr/>
          <p:nvPr/>
        </p:nvSpPr>
        <p:spPr>
          <a:xfrm>
            <a:off x="5148716" y="4187490"/>
            <a:ext cx="1830370" cy="467547"/>
          </a:xfrm>
          <a:prstGeom prst="diamond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8F770F-A5C5-43C8-8F40-1F1B466EAB86}"/>
              </a:ext>
            </a:extLst>
          </p:cNvPr>
          <p:cNvSpPr txBox="1"/>
          <p:nvPr/>
        </p:nvSpPr>
        <p:spPr>
          <a:xfrm>
            <a:off x="5418811" y="4257556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2F0D9"/>
                </a:solidFill>
              </a:rPr>
              <a:t>메뉴 선택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D62ED3B4-2D18-41CF-B675-F5900220D21B}"/>
              </a:ext>
            </a:extLst>
          </p:cNvPr>
          <p:cNvCxnSpPr>
            <a:cxnSpLocks/>
          </p:cNvCxnSpPr>
          <p:nvPr/>
        </p:nvCxnSpPr>
        <p:spPr>
          <a:xfrm flipH="1">
            <a:off x="6033365" y="4014288"/>
            <a:ext cx="6263" cy="16510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279B859-916D-4B92-A8CE-08FF1FCB7099}"/>
              </a:ext>
            </a:extLst>
          </p:cNvPr>
          <p:cNvSpPr/>
          <p:nvPr/>
        </p:nvSpPr>
        <p:spPr>
          <a:xfrm>
            <a:off x="3747369" y="4791414"/>
            <a:ext cx="1290180" cy="41066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C03A8BC-804B-47F0-91B3-8D0C7891CD61}"/>
              </a:ext>
            </a:extLst>
          </p:cNvPr>
          <p:cNvSpPr txBox="1"/>
          <p:nvPr/>
        </p:nvSpPr>
        <p:spPr>
          <a:xfrm>
            <a:off x="3747369" y="4804048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35957A"/>
                </a:solidFill>
              </a:rPr>
              <a:t>Tremor</a:t>
            </a:r>
            <a:r>
              <a:rPr lang="ko-KR" altLang="en-US" sz="1600" b="1" dirty="0">
                <a:solidFill>
                  <a:srgbClr val="35957A"/>
                </a:solidFill>
              </a:rPr>
              <a:t>화면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76949C3-363F-4044-96D5-CB73B5AA1627}"/>
              </a:ext>
            </a:extLst>
          </p:cNvPr>
          <p:cNvSpPr/>
          <p:nvPr/>
        </p:nvSpPr>
        <p:spPr>
          <a:xfrm>
            <a:off x="5402889" y="4793502"/>
            <a:ext cx="1290180" cy="41066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B23FF6E-0B87-419D-87DB-03AD679B3BDA}"/>
              </a:ext>
            </a:extLst>
          </p:cNvPr>
          <p:cNvSpPr txBox="1"/>
          <p:nvPr/>
        </p:nvSpPr>
        <p:spPr>
          <a:xfrm>
            <a:off x="5402889" y="4806136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35957A"/>
                </a:solidFill>
              </a:rPr>
              <a:t>Spiral</a:t>
            </a:r>
            <a:r>
              <a:rPr lang="ko-KR" altLang="en-US" sz="1600" b="1" dirty="0">
                <a:solidFill>
                  <a:srgbClr val="35957A"/>
                </a:solidFill>
              </a:rPr>
              <a:t>화면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A20D478D-F800-4D4C-A1F9-4FE8C2C960DC}"/>
              </a:ext>
            </a:extLst>
          </p:cNvPr>
          <p:cNvSpPr/>
          <p:nvPr/>
        </p:nvSpPr>
        <p:spPr>
          <a:xfrm>
            <a:off x="7070935" y="4783064"/>
            <a:ext cx="1290180" cy="41066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168F81-083B-4AA2-8056-305C80EF46CE}"/>
              </a:ext>
            </a:extLst>
          </p:cNvPr>
          <p:cNvSpPr txBox="1"/>
          <p:nvPr/>
        </p:nvSpPr>
        <p:spPr>
          <a:xfrm>
            <a:off x="7070935" y="4807672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rgbClr val="35957A"/>
                </a:solidFill>
              </a:rPr>
              <a:t>Tapping</a:t>
            </a:r>
            <a:r>
              <a:rPr lang="ko-KR" altLang="en-US" sz="1600" b="1" dirty="0">
                <a:solidFill>
                  <a:srgbClr val="35957A"/>
                </a:solidFill>
              </a:rPr>
              <a:t>화면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656D920-4DE4-4767-946A-19B10C3F8B2F}"/>
              </a:ext>
            </a:extLst>
          </p:cNvPr>
          <p:cNvSpPr/>
          <p:nvPr/>
        </p:nvSpPr>
        <p:spPr>
          <a:xfrm>
            <a:off x="2100201" y="4797678"/>
            <a:ext cx="1290180" cy="41066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05C852-C0C8-4A57-BD0D-D8980E5E4DF5}"/>
              </a:ext>
            </a:extLst>
          </p:cNvPr>
          <p:cNvSpPr txBox="1"/>
          <p:nvPr/>
        </p:nvSpPr>
        <p:spPr>
          <a:xfrm>
            <a:off x="2100201" y="4847890"/>
            <a:ext cx="12901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35957A"/>
                </a:solidFill>
              </a:rPr>
              <a:t>전체결과화면</a:t>
            </a:r>
          </a:p>
        </p:txBody>
      </p:sp>
      <p:sp>
        <p:nvSpPr>
          <p:cNvPr id="68" name="다이아몬드 67">
            <a:extLst>
              <a:ext uri="{FF2B5EF4-FFF2-40B4-BE49-F238E27FC236}">
                <a16:creationId xmlns:a16="http://schemas.microsoft.com/office/drawing/2014/main" id="{5DAE1405-A38D-42FA-BF43-6E1F42031F33}"/>
              </a:ext>
            </a:extLst>
          </p:cNvPr>
          <p:cNvSpPr/>
          <p:nvPr/>
        </p:nvSpPr>
        <p:spPr>
          <a:xfrm>
            <a:off x="7031792" y="5326226"/>
            <a:ext cx="1423277" cy="467547"/>
          </a:xfrm>
          <a:prstGeom prst="diamond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다이아몬드 74">
            <a:extLst>
              <a:ext uri="{FF2B5EF4-FFF2-40B4-BE49-F238E27FC236}">
                <a16:creationId xmlns:a16="http://schemas.microsoft.com/office/drawing/2014/main" id="{FC2C0F28-2363-4AE4-AD4A-83CA8329B7ED}"/>
              </a:ext>
            </a:extLst>
          </p:cNvPr>
          <p:cNvSpPr/>
          <p:nvPr/>
        </p:nvSpPr>
        <p:spPr>
          <a:xfrm>
            <a:off x="5393237" y="5297162"/>
            <a:ext cx="1423277" cy="467547"/>
          </a:xfrm>
          <a:prstGeom prst="diamond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CC7E51D-89AD-4062-B13A-AD228F47FEB0}"/>
              </a:ext>
            </a:extLst>
          </p:cNvPr>
          <p:cNvSpPr txBox="1"/>
          <p:nvPr/>
        </p:nvSpPr>
        <p:spPr>
          <a:xfrm>
            <a:off x="7101471" y="5407910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2F0D9"/>
                </a:solidFill>
              </a:rPr>
              <a:t>측정시작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7A43E66-0E19-4B5B-ADFB-AC06DCE16CE7}"/>
              </a:ext>
            </a:extLst>
          </p:cNvPr>
          <p:cNvSpPr txBox="1"/>
          <p:nvPr/>
        </p:nvSpPr>
        <p:spPr>
          <a:xfrm>
            <a:off x="5483529" y="5374242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2F0D9"/>
                </a:solidFill>
              </a:rPr>
              <a:t>측정시작</a:t>
            </a:r>
          </a:p>
        </p:txBody>
      </p:sp>
      <p:sp>
        <p:nvSpPr>
          <p:cNvPr id="76" name="다이아몬드 75">
            <a:extLst>
              <a:ext uri="{FF2B5EF4-FFF2-40B4-BE49-F238E27FC236}">
                <a16:creationId xmlns:a16="http://schemas.microsoft.com/office/drawing/2014/main" id="{6F018933-47D9-4857-8AE6-AEFA0246367D}"/>
              </a:ext>
            </a:extLst>
          </p:cNvPr>
          <p:cNvSpPr/>
          <p:nvPr/>
        </p:nvSpPr>
        <p:spPr>
          <a:xfrm>
            <a:off x="3716841" y="5299250"/>
            <a:ext cx="1423277" cy="467547"/>
          </a:xfrm>
          <a:prstGeom prst="diamond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BAF13F-F3F3-4DAB-8206-066D157B8092}"/>
              </a:ext>
            </a:extLst>
          </p:cNvPr>
          <p:cNvSpPr txBox="1"/>
          <p:nvPr/>
        </p:nvSpPr>
        <p:spPr>
          <a:xfrm>
            <a:off x="3790431" y="5372154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2F0D9"/>
                </a:solidFill>
              </a:rPr>
              <a:t>측정시작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F0B716B5-C855-4C9C-A3AD-222504321739}"/>
              </a:ext>
            </a:extLst>
          </p:cNvPr>
          <p:cNvSpPr/>
          <p:nvPr/>
        </p:nvSpPr>
        <p:spPr>
          <a:xfrm>
            <a:off x="3799561" y="5926468"/>
            <a:ext cx="1290180" cy="41066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21B626A-3F1D-40E6-B4AA-F50A7A2D003D}"/>
              </a:ext>
            </a:extLst>
          </p:cNvPr>
          <p:cNvSpPr txBox="1"/>
          <p:nvPr/>
        </p:nvSpPr>
        <p:spPr>
          <a:xfrm>
            <a:off x="3799561" y="5964154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35957A"/>
                </a:solidFill>
              </a:rPr>
              <a:t>결과 화면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E1831062-F4C9-4C14-B4F6-4F33638EDEF9}"/>
              </a:ext>
            </a:extLst>
          </p:cNvPr>
          <p:cNvSpPr/>
          <p:nvPr/>
        </p:nvSpPr>
        <p:spPr>
          <a:xfrm>
            <a:off x="5505185" y="5920260"/>
            <a:ext cx="1290180" cy="41066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F9CDFF4-A801-4E53-9B98-4AB13CD4E9A3}"/>
              </a:ext>
            </a:extLst>
          </p:cNvPr>
          <p:cNvSpPr txBox="1"/>
          <p:nvPr/>
        </p:nvSpPr>
        <p:spPr>
          <a:xfrm>
            <a:off x="5505185" y="5957946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35957A"/>
                </a:solidFill>
              </a:rPr>
              <a:t>결과 화면</a:t>
            </a: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7022E56-58BF-425A-B4B3-338E746FC312}"/>
              </a:ext>
            </a:extLst>
          </p:cNvPr>
          <p:cNvSpPr/>
          <p:nvPr/>
        </p:nvSpPr>
        <p:spPr>
          <a:xfrm>
            <a:off x="7085549" y="5930640"/>
            <a:ext cx="1290180" cy="410661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964415-97C4-4235-9710-597565CDA31B}"/>
              </a:ext>
            </a:extLst>
          </p:cNvPr>
          <p:cNvSpPr txBox="1"/>
          <p:nvPr/>
        </p:nvSpPr>
        <p:spPr>
          <a:xfrm>
            <a:off x="7085549" y="5968326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35957A"/>
                </a:solidFill>
              </a:rPr>
              <a:t>결과 화면</a:t>
            </a:r>
          </a:p>
        </p:txBody>
      </p:sp>
      <p:cxnSp>
        <p:nvCxnSpPr>
          <p:cNvPr id="83" name="직선 화살표 연결선 82">
            <a:extLst>
              <a:ext uri="{FF2B5EF4-FFF2-40B4-BE49-F238E27FC236}">
                <a16:creationId xmlns:a16="http://schemas.microsoft.com/office/drawing/2014/main" id="{96F3AC45-DF6F-425D-A6FB-170E8DE696A2}"/>
              </a:ext>
            </a:extLst>
          </p:cNvPr>
          <p:cNvCxnSpPr>
            <a:cxnSpLocks/>
          </p:cNvCxnSpPr>
          <p:nvPr/>
        </p:nvCxnSpPr>
        <p:spPr>
          <a:xfrm flipH="1">
            <a:off x="6085557" y="5176965"/>
            <a:ext cx="6263" cy="15009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>
            <a:extLst>
              <a:ext uri="{FF2B5EF4-FFF2-40B4-BE49-F238E27FC236}">
                <a16:creationId xmlns:a16="http://schemas.microsoft.com/office/drawing/2014/main" id="{7517CFAE-7EB7-4709-BB6B-7813E8E8F93C}"/>
              </a:ext>
            </a:extLst>
          </p:cNvPr>
          <p:cNvCxnSpPr>
            <a:cxnSpLocks/>
          </p:cNvCxnSpPr>
          <p:nvPr/>
        </p:nvCxnSpPr>
        <p:spPr>
          <a:xfrm flipH="1">
            <a:off x="7741077" y="5178883"/>
            <a:ext cx="6263" cy="15009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99D87925-432A-4AA8-BEEE-0810BA5B3EBA}"/>
              </a:ext>
            </a:extLst>
          </p:cNvPr>
          <p:cNvCxnSpPr>
            <a:cxnSpLocks/>
          </p:cNvCxnSpPr>
          <p:nvPr/>
        </p:nvCxnSpPr>
        <p:spPr>
          <a:xfrm flipH="1">
            <a:off x="4396635" y="5170760"/>
            <a:ext cx="6263" cy="15009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DE4DF0BB-2AB1-41CA-B70C-6592982A88F1}"/>
              </a:ext>
            </a:extLst>
          </p:cNvPr>
          <p:cNvCxnSpPr/>
          <p:nvPr/>
        </p:nvCxnSpPr>
        <p:spPr>
          <a:xfrm>
            <a:off x="5094494" y="5459210"/>
            <a:ext cx="153331" cy="0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D27E5F73-22FF-47FB-9ECD-F38720DA8956}"/>
              </a:ext>
            </a:extLst>
          </p:cNvPr>
          <p:cNvCxnSpPr/>
          <p:nvPr/>
        </p:nvCxnSpPr>
        <p:spPr>
          <a:xfrm>
            <a:off x="6775066" y="5461298"/>
            <a:ext cx="153331" cy="0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D6040ADC-1176-47A2-8B37-AE758C0C5A02}"/>
              </a:ext>
            </a:extLst>
          </p:cNvPr>
          <p:cNvCxnSpPr/>
          <p:nvPr/>
        </p:nvCxnSpPr>
        <p:spPr>
          <a:xfrm>
            <a:off x="8430586" y="5475912"/>
            <a:ext cx="153331" cy="0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연결선 88">
            <a:extLst>
              <a:ext uri="{FF2B5EF4-FFF2-40B4-BE49-F238E27FC236}">
                <a16:creationId xmlns:a16="http://schemas.microsoft.com/office/drawing/2014/main" id="{713EF67A-7902-4141-8DB0-6AAF6E6A50AA}"/>
              </a:ext>
            </a:extLst>
          </p:cNvPr>
          <p:cNvCxnSpPr>
            <a:cxnSpLocks/>
          </p:cNvCxnSpPr>
          <p:nvPr/>
        </p:nvCxnSpPr>
        <p:spPr>
          <a:xfrm>
            <a:off x="5242448" y="4925963"/>
            <a:ext cx="0" cy="531862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66618C73-B811-4C5D-B897-7EFEB42BF9B8}"/>
              </a:ext>
            </a:extLst>
          </p:cNvPr>
          <p:cNvCxnSpPr>
            <a:cxnSpLocks/>
          </p:cNvCxnSpPr>
          <p:nvPr/>
        </p:nvCxnSpPr>
        <p:spPr>
          <a:xfrm>
            <a:off x="6910494" y="4928051"/>
            <a:ext cx="0" cy="531862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>
            <a:extLst>
              <a:ext uri="{FF2B5EF4-FFF2-40B4-BE49-F238E27FC236}">
                <a16:creationId xmlns:a16="http://schemas.microsoft.com/office/drawing/2014/main" id="{65812467-A347-4653-BE45-AB04816220FA}"/>
              </a:ext>
            </a:extLst>
          </p:cNvPr>
          <p:cNvCxnSpPr>
            <a:cxnSpLocks/>
          </p:cNvCxnSpPr>
          <p:nvPr/>
        </p:nvCxnSpPr>
        <p:spPr>
          <a:xfrm>
            <a:off x="8578540" y="4930139"/>
            <a:ext cx="0" cy="531862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>
            <a:extLst>
              <a:ext uri="{FF2B5EF4-FFF2-40B4-BE49-F238E27FC236}">
                <a16:creationId xmlns:a16="http://schemas.microsoft.com/office/drawing/2014/main" id="{FFBA48BE-D746-4D4D-B0B4-97055777D139}"/>
              </a:ext>
            </a:extLst>
          </p:cNvPr>
          <p:cNvCxnSpPr/>
          <p:nvPr/>
        </p:nvCxnSpPr>
        <p:spPr>
          <a:xfrm flipH="1" flipV="1">
            <a:off x="5043599" y="4922367"/>
            <a:ext cx="205322" cy="14227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직선 화살표 연결선 92">
            <a:extLst>
              <a:ext uri="{FF2B5EF4-FFF2-40B4-BE49-F238E27FC236}">
                <a16:creationId xmlns:a16="http://schemas.microsoft.com/office/drawing/2014/main" id="{675C6C9B-70F3-455B-81ED-E6BD32FA472D}"/>
              </a:ext>
            </a:extLst>
          </p:cNvPr>
          <p:cNvCxnSpPr/>
          <p:nvPr/>
        </p:nvCxnSpPr>
        <p:spPr>
          <a:xfrm flipH="1" flipV="1">
            <a:off x="6724171" y="4924455"/>
            <a:ext cx="205322" cy="14227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639E24EC-D49B-44AB-B536-86904A1A47FF}"/>
              </a:ext>
            </a:extLst>
          </p:cNvPr>
          <p:cNvCxnSpPr/>
          <p:nvPr/>
        </p:nvCxnSpPr>
        <p:spPr>
          <a:xfrm flipH="1" flipV="1">
            <a:off x="8379691" y="4939069"/>
            <a:ext cx="205322" cy="14227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2F2BA8F-4719-466E-928F-5CDE1681A491}"/>
              </a:ext>
            </a:extLst>
          </p:cNvPr>
          <p:cNvSpPr txBox="1"/>
          <p:nvPr/>
        </p:nvSpPr>
        <p:spPr>
          <a:xfrm>
            <a:off x="4977826" y="5142466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605EE13-686D-43C5-A971-A0453D900540}"/>
              </a:ext>
            </a:extLst>
          </p:cNvPr>
          <p:cNvSpPr txBox="1"/>
          <p:nvPr/>
        </p:nvSpPr>
        <p:spPr>
          <a:xfrm>
            <a:off x="6627860" y="5155443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652F6CA6-84A2-4438-8A7F-F6868F04F7C5}"/>
              </a:ext>
            </a:extLst>
          </p:cNvPr>
          <p:cNvSpPr txBox="1"/>
          <p:nvPr/>
        </p:nvSpPr>
        <p:spPr>
          <a:xfrm>
            <a:off x="8317035" y="5157532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cxnSp>
        <p:nvCxnSpPr>
          <p:cNvPr id="99" name="직선 화살표 연결선 98">
            <a:extLst>
              <a:ext uri="{FF2B5EF4-FFF2-40B4-BE49-F238E27FC236}">
                <a16:creationId xmlns:a16="http://schemas.microsoft.com/office/drawing/2014/main" id="{D43DF076-AEB4-42A7-A775-EB5B24BDB017}"/>
              </a:ext>
            </a:extLst>
          </p:cNvPr>
          <p:cNvCxnSpPr>
            <a:cxnSpLocks/>
          </p:cNvCxnSpPr>
          <p:nvPr/>
        </p:nvCxnSpPr>
        <p:spPr>
          <a:xfrm flipH="1">
            <a:off x="6104347" y="5742666"/>
            <a:ext cx="6263" cy="15009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>
            <a:extLst>
              <a:ext uri="{FF2B5EF4-FFF2-40B4-BE49-F238E27FC236}">
                <a16:creationId xmlns:a16="http://schemas.microsoft.com/office/drawing/2014/main" id="{D0E9EFA9-244A-4CB3-B70E-1CF53EE22357}"/>
              </a:ext>
            </a:extLst>
          </p:cNvPr>
          <p:cNvCxnSpPr>
            <a:cxnSpLocks/>
          </p:cNvCxnSpPr>
          <p:nvPr/>
        </p:nvCxnSpPr>
        <p:spPr>
          <a:xfrm flipH="1">
            <a:off x="7747341" y="5769982"/>
            <a:ext cx="6263" cy="15009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E4723419-F7A3-481F-9DFA-DF6B10E83F94}"/>
              </a:ext>
            </a:extLst>
          </p:cNvPr>
          <p:cNvCxnSpPr>
            <a:cxnSpLocks/>
          </p:cNvCxnSpPr>
          <p:nvPr/>
        </p:nvCxnSpPr>
        <p:spPr>
          <a:xfrm flipH="1">
            <a:off x="4419658" y="5744755"/>
            <a:ext cx="6263" cy="15009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A8AC5A90-8FAD-485B-BC1D-9CFABC1099EB}"/>
              </a:ext>
            </a:extLst>
          </p:cNvPr>
          <p:cNvSpPr txBox="1"/>
          <p:nvPr/>
        </p:nvSpPr>
        <p:spPr>
          <a:xfrm>
            <a:off x="4469180" y="5626259"/>
            <a:ext cx="360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03513DF-0CCC-43AF-961A-5C6C51E3D3CA}"/>
              </a:ext>
            </a:extLst>
          </p:cNvPr>
          <p:cNvSpPr txBox="1"/>
          <p:nvPr/>
        </p:nvSpPr>
        <p:spPr>
          <a:xfrm>
            <a:off x="6151258" y="5625652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5F90A6B-0212-413C-986F-09620D39A5FE}"/>
              </a:ext>
            </a:extLst>
          </p:cNvPr>
          <p:cNvSpPr txBox="1"/>
          <p:nvPr/>
        </p:nvSpPr>
        <p:spPr>
          <a:xfrm>
            <a:off x="7805705" y="5639773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06" name="직선 연결선 105">
            <a:extLst>
              <a:ext uri="{FF2B5EF4-FFF2-40B4-BE49-F238E27FC236}">
                <a16:creationId xmlns:a16="http://schemas.microsoft.com/office/drawing/2014/main" id="{EAD7D649-A6A8-4E4F-986E-9C5EBB59460F}"/>
              </a:ext>
            </a:extLst>
          </p:cNvPr>
          <p:cNvCxnSpPr/>
          <p:nvPr/>
        </p:nvCxnSpPr>
        <p:spPr>
          <a:xfrm>
            <a:off x="2874303" y="4642932"/>
            <a:ext cx="4739849" cy="0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>
            <a:extLst>
              <a:ext uri="{FF2B5EF4-FFF2-40B4-BE49-F238E27FC236}">
                <a16:creationId xmlns:a16="http://schemas.microsoft.com/office/drawing/2014/main" id="{3B840BB3-A95D-4E20-A89E-7CB48887A2B9}"/>
              </a:ext>
            </a:extLst>
          </p:cNvPr>
          <p:cNvCxnSpPr>
            <a:cxnSpLocks/>
          </p:cNvCxnSpPr>
          <p:nvPr/>
        </p:nvCxnSpPr>
        <p:spPr>
          <a:xfrm flipH="1">
            <a:off x="2868463" y="4646565"/>
            <a:ext cx="6263" cy="136450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>
            <a:extLst>
              <a:ext uri="{FF2B5EF4-FFF2-40B4-BE49-F238E27FC236}">
                <a16:creationId xmlns:a16="http://schemas.microsoft.com/office/drawing/2014/main" id="{ED1A6A7D-34B3-4B77-843A-D571B6EE75B1}"/>
              </a:ext>
            </a:extLst>
          </p:cNvPr>
          <p:cNvCxnSpPr>
            <a:cxnSpLocks/>
          </p:cNvCxnSpPr>
          <p:nvPr/>
        </p:nvCxnSpPr>
        <p:spPr>
          <a:xfrm flipH="1">
            <a:off x="4386197" y="4636127"/>
            <a:ext cx="6263" cy="136450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>
            <a:extLst>
              <a:ext uri="{FF2B5EF4-FFF2-40B4-BE49-F238E27FC236}">
                <a16:creationId xmlns:a16="http://schemas.microsoft.com/office/drawing/2014/main" id="{1F7B8331-689E-449B-8621-C6E214DF80BD}"/>
              </a:ext>
            </a:extLst>
          </p:cNvPr>
          <p:cNvCxnSpPr>
            <a:cxnSpLocks/>
          </p:cNvCxnSpPr>
          <p:nvPr/>
        </p:nvCxnSpPr>
        <p:spPr>
          <a:xfrm flipH="1">
            <a:off x="6066769" y="4644418"/>
            <a:ext cx="6263" cy="124045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CBF4EAE2-C27C-4379-9331-4BB5C20B0E03}"/>
              </a:ext>
            </a:extLst>
          </p:cNvPr>
          <p:cNvCxnSpPr>
            <a:cxnSpLocks/>
          </p:cNvCxnSpPr>
          <p:nvPr/>
        </p:nvCxnSpPr>
        <p:spPr>
          <a:xfrm flipH="1">
            <a:off x="7609555" y="4640303"/>
            <a:ext cx="6263" cy="136450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다이아몬드 110">
            <a:extLst>
              <a:ext uri="{FF2B5EF4-FFF2-40B4-BE49-F238E27FC236}">
                <a16:creationId xmlns:a16="http://schemas.microsoft.com/office/drawing/2014/main" id="{F42B5C82-6ED9-4590-BAA1-3A7AB542E8FF}"/>
              </a:ext>
            </a:extLst>
          </p:cNvPr>
          <p:cNvSpPr/>
          <p:nvPr/>
        </p:nvSpPr>
        <p:spPr>
          <a:xfrm>
            <a:off x="1733294" y="5671408"/>
            <a:ext cx="1830370" cy="514302"/>
          </a:xfrm>
          <a:prstGeom prst="diamond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50E6814-110D-4F6F-96D5-AA126EFAEDC3}"/>
              </a:ext>
            </a:extLst>
          </p:cNvPr>
          <p:cNvSpPr txBox="1"/>
          <p:nvPr/>
        </p:nvSpPr>
        <p:spPr>
          <a:xfrm>
            <a:off x="2003389" y="5752326"/>
            <a:ext cx="12901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rgbClr val="E2F0D9"/>
                </a:solidFill>
              </a:rPr>
              <a:t>결과 저장</a:t>
            </a: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7594942E-2DD5-4259-BDDD-091EF7C72F4B}"/>
              </a:ext>
            </a:extLst>
          </p:cNvPr>
          <p:cNvCxnSpPr>
            <a:cxnSpLocks/>
          </p:cNvCxnSpPr>
          <p:nvPr/>
        </p:nvCxnSpPr>
        <p:spPr>
          <a:xfrm flipH="1">
            <a:off x="6178459" y="6296023"/>
            <a:ext cx="1" cy="173732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직선 연결선 121">
            <a:extLst>
              <a:ext uri="{FF2B5EF4-FFF2-40B4-BE49-F238E27FC236}">
                <a16:creationId xmlns:a16="http://schemas.microsoft.com/office/drawing/2014/main" id="{65220436-C2DE-49AA-8537-63DFF6F00A62}"/>
              </a:ext>
            </a:extLst>
          </p:cNvPr>
          <p:cNvCxnSpPr>
            <a:cxnSpLocks/>
          </p:cNvCxnSpPr>
          <p:nvPr/>
        </p:nvCxnSpPr>
        <p:spPr>
          <a:xfrm flipH="1">
            <a:off x="4439433" y="6298111"/>
            <a:ext cx="1" cy="173732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84D9E313-1BBA-4585-ABEC-62C6467E07C9}"/>
              </a:ext>
            </a:extLst>
          </p:cNvPr>
          <p:cNvCxnSpPr>
            <a:cxnSpLocks/>
          </p:cNvCxnSpPr>
          <p:nvPr/>
        </p:nvCxnSpPr>
        <p:spPr>
          <a:xfrm flipH="1">
            <a:off x="7735859" y="6312725"/>
            <a:ext cx="1" cy="173732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연결선 123">
            <a:extLst>
              <a:ext uri="{FF2B5EF4-FFF2-40B4-BE49-F238E27FC236}">
                <a16:creationId xmlns:a16="http://schemas.microsoft.com/office/drawing/2014/main" id="{1EFEDA1B-8FEB-4A5D-B5B0-5F9B54C886D3}"/>
              </a:ext>
            </a:extLst>
          </p:cNvPr>
          <p:cNvCxnSpPr>
            <a:cxnSpLocks/>
          </p:cNvCxnSpPr>
          <p:nvPr/>
        </p:nvCxnSpPr>
        <p:spPr>
          <a:xfrm>
            <a:off x="2670142" y="6457229"/>
            <a:ext cx="5081796" cy="14499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화살표 연결선 126">
            <a:extLst>
              <a:ext uri="{FF2B5EF4-FFF2-40B4-BE49-F238E27FC236}">
                <a16:creationId xmlns:a16="http://schemas.microsoft.com/office/drawing/2014/main" id="{1CCA2DD8-79BA-4930-B56F-D51579FA9CC9}"/>
              </a:ext>
            </a:extLst>
          </p:cNvPr>
          <p:cNvCxnSpPr>
            <a:cxnSpLocks/>
          </p:cNvCxnSpPr>
          <p:nvPr/>
        </p:nvCxnSpPr>
        <p:spPr>
          <a:xfrm flipV="1">
            <a:off x="2651866" y="6198297"/>
            <a:ext cx="0" cy="268294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직선 연결선 131">
            <a:extLst>
              <a:ext uri="{FF2B5EF4-FFF2-40B4-BE49-F238E27FC236}">
                <a16:creationId xmlns:a16="http://schemas.microsoft.com/office/drawing/2014/main" id="{365AB97D-B26E-4C99-8A7F-57AB8A04FCF1}"/>
              </a:ext>
            </a:extLst>
          </p:cNvPr>
          <p:cNvCxnSpPr>
            <a:cxnSpLocks/>
          </p:cNvCxnSpPr>
          <p:nvPr/>
        </p:nvCxnSpPr>
        <p:spPr>
          <a:xfrm flipH="1">
            <a:off x="2637777" y="5486009"/>
            <a:ext cx="1" cy="173732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FAF4673A-BA16-4637-907F-0FE4AC89E7F6}"/>
              </a:ext>
            </a:extLst>
          </p:cNvPr>
          <p:cNvCxnSpPr/>
          <p:nvPr/>
        </p:nvCxnSpPr>
        <p:spPr>
          <a:xfrm>
            <a:off x="1850485" y="5494700"/>
            <a:ext cx="775004" cy="0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7FD1F5E3-52C6-48A0-AFC4-C18B4D5963A2}"/>
              </a:ext>
            </a:extLst>
          </p:cNvPr>
          <p:cNvCxnSpPr>
            <a:cxnSpLocks/>
          </p:cNvCxnSpPr>
          <p:nvPr/>
        </p:nvCxnSpPr>
        <p:spPr>
          <a:xfrm flipH="1">
            <a:off x="1850727" y="4515797"/>
            <a:ext cx="1" cy="965941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134">
            <a:extLst>
              <a:ext uri="{FF2B5EF4-FFF2-40B4-BE49-F238E27FC236}">
                <a16:creationId xmlns:a16="http://schemas.microsoft.com/office/drawing/2014/main" id="{0BC00DC5-3187-4838-AFBC-F7A6C38D0C0A}"/>
              </a:ext>
            </a:extLst>
          </p:cNvPr>
          <p:cNvCxnSpPr>
            <a:cxnSpLocks/>
          </p:cNvCxnSpPr>
          <p:nvPr/>
        </p:nvCxnSpPr>
        <p:spPr>
          <a:xfrm flipV="1">
            <a:off x="4783327" y="4045122"/>
            <a:ext cx="525133" cy="480482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1464A8CB-3464-45E2-BF31-6DD2B4470FC6}"/>
              </a:ext>
            </a:extLst>
          </p:cNvPr>
          <p:cNvCxnSpPr/>
          <p:nvPr/>
        </p:nvCxnSpPr>
        <p:spPr>
          <a:xfrm>
            <a:off x="1843686" y="4530198"/>
            <a:ext cx="2943074" cy="0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>
            <a:extLst>
              <a:ext uri="{FF2B5EF4-FFF2-40B4-BE49-F238E27FC236}">
                <a16:creationId xmlns:a16="http://schemas.microsoft.com/office/drawing/2014/main" id="{9F05DFF3-CD11-492B-B69B-714E0885A47C}"/>
              </a:ext>
            </a:extLst>
          </p:cNvPr>
          <p:cNvSpPr txBox="1"/>
          <p:nvPr/>
        </p:nvSpPr>
        <p:spPr>
          <a:xfrm>
            <a:off x="2603455" y="5385152"/>
            <a:ext cx="3306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N</a:t>
            </a:r>
            <a:endParaRPr lang="ko-KR" altLang="en-US" dirty="0"/>
          </a:p>
        </p:txBody>
      </p:sp>
      <p:sp>
        <p:nvSpPr>
          <p:cNvPr id="142" name="순서도: 자기 디스크 141">
            <a:extLst>
              <a:ext uri="{FF2B5EF4-FFF2-40B4-BE49-F238E27FC236}">
                <a16:creationId xmlns:a16="http://schemas.microsoft.com/office/drawing/2014/main" id="{99BAA745-FDC4-4206-B175-57495160542B}"/>
              </a:ext>
            </a:extLst>
          </p:cNvPr>
          <p:cNvSpPr/>
          <p:nvPr/>
        </p:nvSpPr>
        <p:spPr>
          <a:xfrm>
            <a:off x="560211" y="5115731"/>
            <a:ext cx="751958" cy="965939"/>
          </a:xfrm>
          <a:prstGeom prst="flowChartMagneticDisk">
            <a:avLst/>
          </a:prstGeom>
          <a:solidFill>
            <a:srgbClr val="E2F0D9"/>
          </a:solidFill>
          <a:ln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3" name="직선 화살표 연결선 142">
            <a:extLst>
              <a:ext uri="{FF2B5EF4-FFF2-40B4-BE49-F238E27FC236}">
                <a16:creationId xmlns:a16="http://schemas.microsoft.com/office/drawing/2014/main" id="{6853F253-FAC1-4AF6-AFE8-45A04F8FA237}"/>
              </a:ext>
            </a:extLst>
          </p:cNvPr>
          <p:cNvCxnSpPr/>
          <p:nvPr/>
        </p:nvCxnSpPr>
        <p:spPr>
          <a:xfrm flipH="1" flipV="1">
            <a:off x="1384386" y="5911921"/>
            <a:ext cx="484136" cy="14227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F4E02277-64EC-4C12-A030-3F34A17B2E91}"/>
              </a:ext>
            </a:extLst>
          </p:cNvPr>
          <p:cNvSpPr txBox="1"/>
          <p:nvPr/>
        </p:nvSpPr>
        <p:spPr>
          <a:xfrm>
            <a:off x="1615340" y="5615821"/>
            <a:ext cx="360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cxnSp>
        <p:nvCxnSpPr>
          <p:cNvPr id="145" name="직선 연결선 144">
            <a:extLst>
              <a:ext uri="{FF2B5EF4-FFF2-40B4-BE49-F238E27FC236}">
                <a16:creationId xmlns:a16="http://schemas.microsoft.com/office/drawing/2014/main" id="{C13CB347-D353-444F-BEB9-FDDF25F57AC4}"/>
              </a:ext>
            </a:extLst>
          </p:cNvPr>
          <p:cNvCxnSpPr>
            <a:cxnSpLocks/>
          </p:cNvCxnSpPr>
          <p:nvPr/>
        </p:nvCxnSpPr>
        <p:spPr>
          <a:xfrm>
            <a:off x="1588723" y="4969401"/>
            <a:ext cx="0" cy="585048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A96E025F-DCB2-4AC4-A8C0-17E9058207E2}"/>
              </a:ext>
            </a:extLst>
          </p:cNvPr>
          <p:cNvCxnSpPr>
            <a:cxnSpLocks/>
          </p:cNvCxnSpPr>
          <p:nvPr/>
        </p:nvCxnSpPr>
        <p:spPr>
          <a:xfrm>
            <a:off x="1284661" y="5532393"/>
            <a:ext cx="291230" cy="14499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10A9BAB7-FF03-4648-99ED-5BC9692AE48E}"/>
              </a:ext>
            </a:extLst>
          </p:cNvPr>
          <p:cNvCxnSpPr>
            <a:cxnSpLocks/>
          </p:cNvCxnSpPr>
          <p:nvPr/>
        </p:nvCxnSpPr>
        <p:spPr>
          <a:xfrm flipV="1">
            <a:off x="1595440" y="4959945"/>
            <a:ext cx="466727" cy="14227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연결선 147">
            <a:extLst>
              <a:ext uri="{FF2B5EF4-FFF2-40B4-BE49-F238E27FC236}">
                <a16:creationId xmlns:a16="http://schemas.microsoft.com/office/drawing/2014/main" id="{A2626F88-A992-4EBB-B65F-EDAFBF737012}"/>
              </a:ext>
            </a:extLst>
          </p:cNvPr>
          <p:cNvCxnSpPr>
            <a:cxnSpLocks/>
          </p:cNvCxnSpPr>
          <p:nvPr/>
        </p:nvCxnSpPr>
        <p:spPr>
          <a:xfrm flipH="1">
            <a:off x="4007287" y="4082880"/>
            <a:ext cx="1" cy="307778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71B4970F-1D83-4247-BE2C-6FBF8FEB7D73}"/>
              </a:ext>
            </a:extLst>
          </p:cNvPr>
          <p:cNvCxnSpPr>
            <a:cxnSpLocks/>
          </p:cNvCxnSpPr>
          <p:nvPr/>
        </p:nvCxnSpPr>
        <p:spPr>
          <a:xfrm flipV="1">
            <a:off x="924357" y="4379886"/>
            <a:ext cx="3082633" cy="23298"/>
          </a:xfrm>
          <a:prstGeom prst="line">
            <a:avLst/>
          </a:prstGeom>
          <a:ln>
            <a:solidFill>
              <a:srgbClr val="2D647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7830DB58-C717-4AD0-9841-6BBC5650FE9F}"/>
              </a:ext>
            </a:extLst>
          </p:cNvPr>
          <p:cNvCxnSpPr>
            <a:cxnSpLocks/>
          </p:cNvCxnSpPr>
          <p:nvPr/>
        </p:nvCxnSpPr>
        <p:spPr>
          <a:xfrm flipH="1">
            <a:off x="922757" y="4399924"/>
            <a:ext cx="6263" cy="471068"/>
          </a:xfrm>
          <a:prstGeom prst="straightConnector1">
            <a:avLst/>
          </a:prstGeom>
          <a:ln>
            <a:solidFill>
              <a:srgbClr val="2D647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>
            <a:extLst>
              <a:ext uri="{FF2B5EF4-FFF2-40B4-BE49-F238E27FC236}">
                <a16:creationId xmlns:a16="http://schemas.microsoft.com/office/drawing/2014/main" id="{FC4C9E5C-3727-4ACC-8C29-E2AA11383B8F}"/>
              </a:ext>
            </a:extLst>
          </p:cNvPr>
          <p:cNvSpPr txBox="1"/>
          <p:nvPr/>
        </p:nvSpPr>
        <p:spPr>
          <a:xfrm>
            <a:off x="4031203" y="3994691"/>
            <a:ext cx="330634" cy="2522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Y</a:t>
            </a:r>
            <a:endParaRPr lang="ko-KR" altLang="en-US" dirty="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D268279-FC51-4036-BE0E-003122C89AB4}"/>
              </a:ext>
            </a:extLst>
          </p:cNvPr>
          <p:cNvSpPr txBox="1"/>
          <p:nvPr/>
        </p:nvSpPr>
        <p:spPr>
          <a:xfrm>
            <a:off x="725947" y="5513525"/>
            <a:ext cx="57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solidFill>
                  <a:srgbClr val="35957A"/>
                </a:solidFill>
              </a:rPr>
              <a:t>DB</a:t>
            </a:r>
            <a:endParaRPr lang="ko-KR" altLang="en-US" b="1" dirty="0">
              <a:solidFill>
                <a:srgbClr val="3595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6740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타원 2">
            <a:extLst>
              <a:ext uri="{FF2B5EF4-FFF2-40B4-BE49-F238E27FC236}">
                <a16:creationId xmlns:a16="http://schemas.microsoft.com/office/drawing/2014/main" id="{7579613D-EC52-40FD-8FBD-E75BDAA325EC}"/>
              </a:ext>
            </a:extLst>
          </p:cNvPr>
          <p:cNvSpPr/>
          <p:nvPr/>
        </p:nvSpPr>
        <p:spPr>
          <a:xfrm>
            <a:off x="734273" y="2682774"/>
            <a:ext cx="1863376" cy="1741033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B45D9F11-FFEC-4665-A887-A64E7868238B}"/>
              </a:ext>
            </a:extLst>
          </p:cNvPr>
          <p:cNvSpPr/>
          <p:nvPr/>
        </p:nvSpPr>
        <p:spPr>
          <a:xfrm>
            <a:off x="601754" y="2558737"/>
            <a:ext cx="2103360" cy="2006815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71C5518-9306-46CF-B79A-6015C51EED52}"/>
              </a:ext>
            </a:extLst>
          </p:cNvPr>
          <p:cNvSpPr/>
          <p:nvPr/>
        </p:nvSpPr>
        <p:spPr>
          <a:xfrm>
            <a:off x="3351151" y="2682774"/>
            <a:ext cx="1863376" cy="1741033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D82C2BC-388B-4B55-86A9-C7CB7094408B}"/>
              </a:ext>
            </a:extLst>
          </p:cNvPr>
          <p:cNvSpPr/>
          <p:nvPr/>
        </p:nvSpPr>
        <p:spPr>
          <a:xfrm>
            <a:off x="3218632" y="2558737"/>
            <a:ext cx="2103360" cy="2006815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84C0B0B7-55D6-42F1-B2C7-1E7964523E5F}"/>
              </a:ext>
            </a:extLst>
          </p:cNvPr>
          <p:cNvSpPr/>
          <p:nvPr/>
        </p:nvSpPr>
        <p:spPr>
          <a:xfrm>
            <a:off x="5974171" y="2682774"/>
            <a:ext cx="1863376" cy="1741033"/>
          </a:xfrm>
          <a:prstGeom prst="ellipse">
            <a:avLst/>
          </a:prstGeom>
          <a:solidFill>
            <a:srgbClr val="35957A"/>
          </a:solidFill>
          <a:ln w="38100">
            <a:solidFill>
              <a:srgbClr val="35957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E496121C-2BC5-45AD-B9EB-1D9C4920D3B4}"/>
              </a:ext>
            </a:extLst>
          </p:cNvPr>
          <p:cNvSpPr/>
          <p:nvPr/>
        </p:nvSpPr>
        <p:spPr>
          <a:xfrm>
            <a:off x="5841652" y="2558737"/>
            <a:ext cx="2103360" cy="2006815"/>
          </a:xfrm>
          <a:prstGeom prst="ellipse">
            <a:avLst/>
          </a:prstGeom>
          <a:noFill/>
          <a:ln>
            <a:solidFill>
              <a:srgbClr val="35957A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225963-C565-4B58-9EEC-2AC8006E9DD7}"/>
              </a:ext>
            </a:extLst>
          </p:cNvPr>
          <p:cNvSpPr txBox="1"/>
          <p:nvPr/>
        </p:nvSpPr>
        <p:spPr>
          <a:xfrm>
            <a:off x="601754" y="3208201"/>
            <a:ext cx="2079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E2F0D9"/>
                </a:solidFill>
              </a:rPr>
              <a:t>Samsung</a:t>
            </a:r>
          </a:p>
          <a:p>
            <a:pPr algn="ctr"/>
            <a:r>
              <a:rPr lang="en-US" altLang="ko-KR" sz="2000" b="1" dirty="0">
                <a:solidFill>
                  <a:srgbClr val="E2F0D9"/>
                </a:solidFill>
              </a:rPr>
              <a:t>Galaxy s7 edge</a:t>
            </a:r>
            <a:endParaRPr lang="ko-KR" altLang="en-US" sz="2000" b="1" dirty="0">
              <a:solidFill>
                <a:srgbClr val="E2F0D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5ACF53F-BDE7-4D77-8E46-52A157111CB6}"/>
              </a:ext>
            </a:extLst>
          </p:cNvPr>
          <p:cNvSpPr txBox="1"/>
          <p:nvPr/>
        </p:nvSpPr>
        <p:spPr>
          <a:xfrm>
            <a:off x="3230650" y="3353235"/>
            <a:ext cx="20793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E2F0D9"/>
                </a:solidFill>
              </a:rPr>
              <a:t>MySQL</a:t>
            </a:r>
          </a:p>
        </p:txBody>
      </p:sp>
      <p:sp>
        <p:nvSpPr>
          <p:cNvPr id="2" name="화살표: 아래쪽 1">
            <a:extLst>
              <a:ext uri="{FF2B5EF4-FFF2-40B4-BE49-F238E27FC236}">
                <a16:creationId xmlns:a16="http://schemas.microsoft.com/office/drawing/2014/main" id="{7DA8F969-22B6-43D2-A2D0-C1A6C1843DE1}"/>
              </a:ext>
            </a:extLst>
          </p:cNvPr>
          <p:cNvSpPr/>
          <p:nvPr/>
        </p:nvSpPr>
        <p:spPr>
          <a:xfrm>
            <a:off x="1389879" y="4672208"/>
            <a:ext cx="551145" cy="701457"/>
          </a:xfrm>
          <a:prstGeom prst="downArrow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702A0B86-1E86-4505-9E13-2BCF03B3BCD1}"/>
              </a:ext>
            </a:extLst>
          </p:cNvPr>
          <p:cNvSpPr/>
          <p:nvPr/>
        </p:nvSpPr>
        <p:spPr>
          <a:xfrm>
            <a:off x="4007266" y="4672208"/>
            <a:ext cx="551145" cy="701457"/>
          </a:xfrm>
          <a:prstGeom prst="downArrow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아래쪽 15">
            <a:extLst>
              <a:ext uri="{FF2B5EF4-FFF2-40B4-BE49-F238E27FC236}">
                <a16:creationId xmlns:a16="http://schemas.microsoft.com/office/drawing/2014/main" id="{7F04FF7A-0084-49C6-AB10-D0D659DF224E}"/>
              </a:ext>
            </a:extLst>
          </p:cNvPr>
          <p:cNvSpPr/>
          <p:nvPr/>
        </p:nvSpPr>
        <p:spPr>
          <a:xfrm>
            <a:off x="6680389" y="4672208"/>
            <a:ext cx="551145" cy="701457"/>
          </a:xfrm>
          <a:prstGeom prst="downArrow">
            <a:avLst/>
          </a:prstGeom>
          <a:solidFill>
            <a:srgbClr val="3595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158B4A5-7913-47AD-8FBF-BDF965C69A48}"/>
              </a:ext>
            </a:extLst>
          </p:cNvPr>
          <p:cNvSpPr/>
          <p:nvPr/>
        </p:nvSpPr>
        <p:spPr>
          <a:xfrm>
            <a:off x="522461" y="5585234"/>
            <a:ext cx="2237907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사용하는 </a:t>
            </a:r>
            <a:r>
              <a:rPr lang="ko-KR" altLang="en-US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스마트폰 </a:t>
            </a:r>
            <a:endParaRPr lang="en-US" altLang="ko-KR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기기 사양</a:t>
            </a:r>
            <a:endParaRPr lang="en-US" altLang="ko-KR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5CB13B8-2AEC-4C70-9E10-F85CDCA3026E}"/>
              </a:ext>
            </a:extLst>
          </p:cNvPr>
          <p:cNvSpPr/>
          <p:nvPr/>
        </p:nvSpPr>
        <p:spPr>
          <a:xfrm>
            <a:off x="3259585" y="5573395"/>
            <a:ext cx="2021454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사용자 데이터 </a:t>
            </a:r>
            <a:endParaRPr lang="en-US" altLang="ko-KR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저장할 </a:t>
            </a:r>
            <a:r>
              <a:rPr lang="en-US" altLang="ko-KR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DB </a:t>
            </a:r>
            <a:r>
              <a:rPr lang="ko-KR" altLang="en-US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구축</a:t>
            </a:r>
            <a:endParaRPr lang="en-US" altLang="ko-KR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F0DA35-2AC6-4CF7-83E6-FE5A1ADCB4D9}"/>
              </a:ext>
            </a:extLst>
          </p:cNvPr>
          <p:cNvSpPr txBox="1"/>
          <p:nvPr/>
        </p:nvSpPr>
        <p:spPr>
          <a:xfrm>
            <a:off x="5869705" y="3242039"/>
            <a:ext cx="20793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E2F0D9"/>
                </a:solidFill>
              </a:rPr>
              <a:t>ASP .NET</a:t>
            </a:r>
          </a:p>
          <a:p>
            <a:pPr algn="ctr"/>
            <a:r>
              <a:rPr lang="en-US" altLang="ko-KR" sz="2000" b="1" dirty="0">
                <a:solidFill>
                  <a:srgbClr val="E2F0D9"/>
                </a:solidFill>
              </a:rPr>
              <a:t>C#</a:t>
            </a:r>
            <a:endParaRPr lang="ko-KR" altLang="en-US" sz="2000" b="1" dirty="0">
              <a:solidFill>
                <a:srgbClr val="E2F0D9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7F566396-E7E8-48C5-80DD-9975C5A56A69}"/>
              </a:ext>
            </a:extLst>
          </p:cNvPr>
          <p:cNvSpPr/>
          <p:nvPr/>
        </p:nvSpPr>
        <p:spPr>
          <a:xfrm>
            <a:off x="5945232" y="5573395"/>
            <a:ext cx="2021454" cy="8697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사용자 데이터 </a:t>
            </a:r>
            <a:endParaRPr lang="en-US" altLang="ko-KR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solidFill>
                  <a:srgbClr val="2A2A36"/>
                </a:solidFill>
                <a:latin typeface="Noto Sans CJK KR Medium" pitchFamily="34" charset="-127"/>
                <a:ea typeface="Noto Sans CJK KR Medium" pitchFamily="34" charset="-127"/>
              </a:rPr>
              <a:t>전송할 서버 구축</a:t>
            </a:r>
            <a:endParaRPr lang="en-US" altLang="ko-KR" dirty="0">
              <a:solidFill>
                <a:srgbClr val="2A2A36"/>
              </a:solidFill>
              <a:latin typeface="Noto Sans CJK KR Medium" pitchFamily="34" charset="-127"/>
              <a:ea typeface="Noto Sans CJK KR Medium" pitchFamily="34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86A9F54-A277-4567-9984-18451FC3D775}"/>
              </a:ext>
            </a:extLst>
          </p:cNvPr>
          <p:cNvSpPr/>
          <p:nvPr/>
        </p:nvSpPr>
        <p:spPr>
          <a:xfrm>
            <a:off x="6125883" y="1643331"/>
            <a:ext cx="19736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06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개발 환경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06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C9EB494B-1E5A-4BE3-B871-C17996D8E366}"/>
              </a:ext>
            </a:extLst>
          </p:cNvPr>
          <p:cNvSpPr/>
          <p:nvPr/>
        </p:nvSpPr>
        <p:spPr>
          <a:xfrm>
            <a:off x="4630269" y="3429000"/>
            <a:ext cx="4096872" cy="2178424"/>
          </a:xfrm>
          <a:prstGeom prst="rect">
            <a:avLst/>
          </a:prstGeom>
          <a:solidFill>
            <a:srgbClr val="C8E3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C9B2DDF-301A-4FBC-B9CF-F5240F70F61C}"/>
              </a:ext>
            </a:extLst>
          </p:cNvPr>
          <p:cNvSpPr/>
          <p:nvPr/>
        </p:nvSpPr>
        <p:spPr>
          <a:xfrm>
            <a:off x="9171808" y="3429000"/>
            <a:ext cx="707298" cy="1721224"/>
          </a:xfrm>
          <a:prstGeom prst="rect">
            <a:avLst/>
          </a:prstGeom>
          <a:solidFill>
            <a:srgbClr val="54B2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6080FED-5126-4BDC-A6D2-E48D37C7CF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969294"/>
              </p:ext>
            </p:extLst>
          </p:nvPr>
        </p:nvGraphicFramePr>
        <p:xfrm>
          <a:off x="791284" y="2369372"/>
          <a:ext cx="7677970" cy="42976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970722">
                  <a:extLst>
                    <a:ext uri="{9D8B030D-6E8A-4147-A177-3AD203B41FA5}">
                      <a16:colId xmlns:a16="http://schemas.microsoft.com/office/drawing/2014/main" val="2682674791"/>
                    </a:ext>
                  </a:extLst>
                </a:gridCol>
                <a:gridCol w="588406">
                  <a:extLst>
                    <a:ext uri="{9D8B030D-6E8A-4147-A177-3AD203B41FA5}">
                      <a16:colId xmlns:a16="http://schemas.microsoft.com/office/drawing/2014/main" val="3190130953"/>
                    </a:ext>
                  </a:extLst>
                </a:gridCol>
                <a:gridCol w="588406">
                  <a:extLst>
                    <a:ext uri="{9D8B030D-6E8A-4147-A177-3AD203B41FA5}">
                      <a16:colId xmlns:a16="http://schemas.microsoft.com/office/drawing/2014/main" val="12807713"/>
                    </a:ext>
                  </a:extLst>
                </a:gridCol>
                <a:gridCol w="588406">
                  <a:extLst>
                    <a:ext uri="{9D8B030D-6E8A-4147-A177-3AD203B41FA5}">
                      <a16:colId xmlns:a16="http://schemas.microsoft.com/office/drawing/2014/main" val="2842698350"/>
                    </a:ext>
                  </a:extLst>
                </a:gridCol>
                <a:gridCol w="588406">
                  <a:extLst>
                    <a:ext uri="{9D8B030D-6E8A-4147-A177-3AD203B41FA5}">
                      <a16:colId xmlns:a16="http://schemas.microsoft.com/office/drawing/2014/main" val="1977881025"/>
                    </a:ext>
                  </a:extLst>
                </a:gridCol>
                <a:gridCol w="588406">
                  <a:extLst>
                    <a:ext uri="{9D8B030D-6E8A-4147-A177-3AD203B41FA5}">
                      <a16:colId xmlns:a16="http://schemas.microsoft.com/office/drawing/2014/main" val="2546494847"/>
                    </a:ext>
                  </a:extLst>
                </a:gridCol>
                <a:gridCol w="588406">
                  <a:extLst>
                    <a:ext uri="{9D8B030D-6E8A-4147-A177-3AD203B41FA5}">
                      <a16:colId xmlns:a16="http://schemas.microsoft.com/office/drawing/2014/main" val="2744168581"/>
                    </a:ext>
                  </a:extLst>
                </a:gridCol>
                <a:gridCol w="588406">
                  <a:extLst>
                    <a:ext uri="{9D8B030D-6E8A-4147-A177-3AD203B41FA5}">
                      <a16:colId xmlns:a16="http://schemas.microsoft.com/office/drawing/2014/main" val="2915039245"/>
                    </a:ext>
                  </a:extLst>
                </a:gridCol>
                <a:gridCol w="588406">
                  <a:extLst>
                    <a:ext uri="{9D8B030D-6E8A-4147-A177-3AD203B41FA5}">
                      <a16:colId xmlns:a16="http://schemas.microsoft.com/office/drawing/2014/main" val="282284425"/>
                    </a:ext>
                  </a:extLst>
                </a:gridCol>
              </a:tblGrid>
              <a:tr h="20261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/>
                        <a:t>추진사항</a:t>
                      </a:r>
                      <a:endParaRPr lang="en-US" altLang="ko-K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12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3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4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5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6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/>
                        <a:t>7~9</a:t>
                      </a:r>
                      <a:r>
                        <a:rPr lang="ko-KR" altLang="en-US" sz="1200" dirty="0"/>
                        <a:t>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2655482"/>
                  </a:ext>
                </a:extLst>
              </a:tr>
              <a:tr h="121566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파킨슨병 진단 기분 및 치료 프로세스 사전조사와 계획서 발표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180646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864606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9224365"/>
                  </a:ext>
                </a:extLst>
              </a:tr>
              <a:tr h="121566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사용자 정보 및 측정 결과 정보 등록 데이터베이스 구현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정보제어 위한 서버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4383268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15506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424039"/>
                  </a:ext>
                </a:extLst>
              </a:tr>
              <a:tr h="121566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스마트폰 센서 이용하여 증상 파악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2272957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7259162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908251"/>
                  </a:ext>
                </a:extLst>
              </a:tr>
              <a:tr h="121566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안드로이드 라이브러리를 활동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실시간 데이터 출력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1633317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529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7072702"/>
                  </a:ext>
                </a:extLst>
              </a:tr>
              <a:tr h="121566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진단 기준을 활용하여 기타 파킨슨병 증상의 정량 데이터 축출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494588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261250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8992310"/>
                  </a:ext>
                </a:extLst>
              </a:tr>
              <a:tr h="121566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각 진단 기능들을 통합 구현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5899100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309334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4049014"/>
                  </a:ext>
                </a:extLst>
              </a:tr>
              <a:tr h="121566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테스트 및 유지보수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4849279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2221200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4276426"/>
                  </a:ext>
                </a:extLst>
              </a:tr>
              <a:tr h="121566">
                <a:tc rowSpan="3">
                  <a:txBody>
                    <a:bodyPr/>
                    <a:lstStyle/>
                    <a:p>
                      <a:pPr latinLnBrk="1"/>
                      <a:r>
                        <a:rPr lang="ko-KR" altLang="en-US" sz="1200" dirty="0"/>
                        <a:t>최종 보고서 작성 및 논문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697382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616043"/>
                  </a:ext>
                </a:extLst>
              </a:tr>
              <a:tr h="1215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5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6308864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FCC449F0-907F-4F9E-9415-C19997D23031}"/>
              </a:ext>
            </a:extLst>
          </p:cNvPr>
          <p:cNvSpPr/>
          <p:nvPr/>
        </p:nvSpPr>
        <p:spPr>
          <a:xfrm>
            <a:off x="5763606" y="1643331"/>
            <a:ext cx="269817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07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연구 수행 일정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61093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6364045" y="1643421"/>
            <a:ext cx="16161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09 GitHub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ABB23-1554-4959-B387-B4B64858A8BB}"/>
              </a:ext>
            </a:extLst>
          </p:cNvPr>
          <p:cNvSpPr/>
          <p:nvPr/>
        </p:nvSpPr>
        <p:spPr>
          <a:xfrm>
            <a:off x="705035" y="2105086"/>
            <a:ext cx="8495930" cy="1099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300" dirty="0">
                <a:latin typeface="+mj-lt"/>
                <a:ea typeface="Noto Sans CJK KR Medium" pitchFamily="34" charset="-127"/>
                <a:hlinkClick r:id="rId3"/>
              </a:rPr>
              <a:t>https://github.com/tedli94/Capstone</a:t>
            </a:r>
            <a:endParaRPr lang="en-US" altLang="ko-KR" sz="2300" dirty="0">
              <a:latin typeface="+mj-lt"/>
              <a:ea typeface="Noto Sans CJK KR Medium" pitchFamily="34" charset="-127"/>
            </a:endParaRPr>
          </a:p>
          <a:p>
            <a:pPr>
              <a:lnSpc>
                <a:spcPct val="150000"/>
              </a:lnSpc>
            </a:pPr>
            <a:endParaRPr lang="en-US" altLang="ko-KR" sz="2300" dirty="0">
              <a:latin typeface="+mj-lt"/>
              <a:ea typeface="Noto Sans CJK KR Medium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9C30F1C0-25C4-4EAD-935D-602C5FF473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720" y="2716060"/>
            <a:ext cx="7406640" cy="3276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099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6185309" y="1643421"/>
            <a:ext cx="19736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08 </a:t>
            </a:r>
            <a:r>
              <a:rPr lang="ko-KR" altLang="en-US" sz="2400" dirty="0">
                <a:solidFill>
                  <a:srgbClr val="70AD47">
                    <a:lumMod val="20000"/>
                    <a:lumOff val="80000"/>
                  </a:srgbClr>
                </a:solidFill>
                <a:latin typeface="Noto Sans CJK KR Medium" pitchFamily="34" charset="-127"/>
                <a:ea typeface="Noto Sans CJK KR Medium" pitchFamily="34" charset="-127"/>
              </a:rPr>
              <a:t>선행 연구</a:t>
            </a:r>
            <a:endParaRPr lang="ko-KR" altLang="en-US" sz="24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03FABB23-1554-4959-B387-B4B64858A8BB}"/>
              </a:ext>
            </a:extLst>
          </p:cNvPr>
          <p:cNvSpPr/>
          <p:nvPr/>
        </p:nvSpPr>
        <p:spPr>
          <a:xfrm>
            <a:off x="630315" y="2532183"/>
            <a:ext cx="8495930" cy="3699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300" dirty="0">
                <a:solidFill>
                  <a:srgbClr val="54B298"/>
                </a:solidFill>
                <a:latin typeface="+mj-lt"/>
                <a:ea typeface="Noto Sans CJK KR Medium" pitchFamily="34" charset="-127"/>
              </a:rPr>
              <a:t>스마트폰을 이용한 </a:t>
            </a:r>
            <a:r>
              <a:rPr lang="ko-KR" altLang="en-US" sz="2300" dirty="0" err="1">
                <a:solidFill>
                  <a:srgbClr val="54B298"/>
                </a:solidFill>
                <a:latin typeface="+mj-lt"/>
                <a:ea typeface="Noto Sans CJK KR Medium" pitchFamily="34" charset="-127"/>
              </a:rPr>
              <a:t>파킨슨</a:t>
            </a:r>
            <a:r>
              <a:rPr lang="ko-KR" altLang="en-US" sz="2300" dirty="0">
                <a:solidFill>
                  <a:srgbClr val="54B298"/>
                </a:solidFill>
                <a:latin typeface="+mj-lt"/>
                <a:ea typeface="Noto Sans CJK KR Medium" pitchFamily="34" charset="-127"/>
              </a:rPr>
              <a:t> 측정 사례</a:t>
            </a:r>
            <a:endParaRPr lang="en-US" altLang="ko-KR" sz="2300" dirty="0">
              <a:solidFill>
                <a:srgbClr val="54B298"/>
              </a:solidFill>
              <a:latin typeface="+mj-lt"/>
              <a:ea typeface="Noto Sans CJK KR Medium" pitchFamily="34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200" b="1" dirty="0">
                <a:latin typeface="+mj-lt"/>
              </a:rPr>
              <a:t> - </a:t>
            </a:r>
            <a:r>
              <a:rPr lang="en-US" altLang="ko-KR" dirty="0"/>
              <a:t>Arora, Siddharth, et al. "Detecting and monitoring the symptoms of Parkinson's disease using smartphones: a pilot study." </a:t>
            </a:r>
            <a:r>
              <a:rPr lang="en-US" altLang="ko-KR" i="1" dirty="0"/>
              <a:t>Parkinsonism &amp; related disorders</a:t>
            </a:r>
            <a:r>
              <a:rPr lang="en-US" altLang="ko-KR" dirty="0"/>
              <a:t> 21.6 (2015): 650-653.</a:t>
            </a:r>
          </a:p>
          <a:p>
            <a:pPr>
              <a:lnSpc>
                <a:spcPct val="150000"/>
              </a:lnSpc>
            </a:pPr>
            <a:r>
              <a:rPr lang="en-US" altLang="ko-KR" sz="2200" b="1" dirty="0">
                <a:latin typeface="+mj-lt"/>
              </a:rPr>
              <a:t>- </a:t>
            </a:r>
            <a:r>
              <a:rPr lang="en-US" altLang="ko-KR" dirty="0"/>
              <a:t>Liu, </a:t>
            </a:r>
            <a:r>
              <a:rPr lang="en-US" altLang="ko-KR" dirty="0" err="1"/>
              <a:t>Siyuan</a:t>
            </a:r>
            <a:r>
              <a:rPr lang="en-US" altLang="ko-KR" dirty="0"/>
              <a:t>, et al. "Pumpkin Garden: A Mobile Game Platform for Monitoring Parkinson’s Disease Symptoms." </a:t>
            </a:r>
            <a:r>
              <a:rPr lang="en-US" altLang="ko-KR" i="1" dirty="0"/>
              <a:t>International Conference on Human Aspects of IT for the Aged Population</a:t>
            </a:r>
            <a:r>
              <a:rPr lang="en-US" altLang="ko-KR" dirty="0"/>
              <a:t>. Springer, Cham, 2018.</a:t>
            </a:r>
            <a:endParaRPr lang="en-US" altLang="ko-KR" sz="2200" b="1" dirty="0">
              <a:latin typeface="+mj-lt"/>
            </a:endParaRPr>
          </a:p>
          <a:p>
            <a:endParaRPr lang="en-US" altLang="ko-KR" sz="2200" b="1" dirty="0">
              <a:solidFill>
                <a:srgbClr val="54B298"/>
              </a:solidFill>
              <a:latin typeface="+mj-lt"/>
              <a:ea typeface="Noto Sans CJK KR Medium" pitchFamily="34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300" dirty="0">
                <a:solidFill>
                  <a:srgbClr val="54B298"/>
                </a:solidFill>
                <a:latin typeface="+mj-lt"/>
                <a:ea typeface="Noto Sans CJK KR Medium" pitchFamily="34" charset="-127"/>
              </a:rPr>
              <a:t> </a:t>
            </a:r>
            <a:endParaRPr lang="en-US" altLang="ko-KR" sz="2300" dirty="0">
              <a:solidFill>
                <a:srgbClr val="54B298"/>
              </a:solidFill>
              <a:latin typeface="+mj-lt"/>
              <a:ea typeface="Noto Sans CJK KR Mediu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4540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4587860" y="3598441"/>
            <a:ext cx="37490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4000" dirty="0">
                <a:solidFill>
                  <a:srgbClr val="2A2A36"/>
                </a:solidFill>
                <a:latin typeface="Noto Sans CJK KR Thin" pitchFamily="34" charset="-127"/>
                <a:ea typeface="Noto Sans CJK KR Thin" pitchFamily="34" charset="-127"/>
              </a:rPr>
              <a:t>감사합니다 </a:t>
            </a:r>
            <a:r>
              <a:rPr lang="ko-KR" altLang="en-US" sz="4000" dirty="0" err="1">
                <a:solidFill>
                  <a:srgbClr val="2A2A36"/>
                </a:solidFill>
                <a:latin typeface="Noto Sans CJK KR Thin" pitchFamily="34" charset="-127"/>
                <a:ea typeface="Noto Sans CJK KR Thin" pitchFamily="34" charset="-127"/>
              </a:rPr>
              <a:t>ㅡ</a:t>
            </a:r>
            <a:endParaRPr lang="en-US" altLang="ko-KR" sz="4000" dirty="0">
              <a:solidFill>
                <a:srgbClr val="2A2A36"/>
              </a:solidFill>
              <a:latin typeface="Noto Sans CJK KR Thin" pitchFamily="34" charset="-127"/>
              <a:ea typeface="Noto Sans CJK KR Thin" pitchFamily="34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4566984" y="2228077"/>
            <a:ext cx="1895392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3000" dirty="0">
                <a:solidFill>
                  <a:srgbClr val="70AD47">
                    <a:lumMod val="20000"/>
                    <a:lumOff val="80000"/>
                  </a:srgbClr>
                </a:solidFill>
                <a:ea typeface="Noto Sans CJK KR Medium" pitchFamily="34" charset="-127"/>
              </a:rPr>
              <a:t>Thank you.</a:t>
            </a:r>
            <a:endParaRPr lang="ko-KR" altLang="en-US" sz="3000" dirty="0">
              <a:solidFill>
                <a:srgbClr val="70AD47">
                  <a:lumMod val="20000"/>
                  <a:lumOff val="8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2822255"/>
      </p:ext>
    </p:extLst>
  </p:cSld>
  <p:clrMapOvr>
    <a:masterClrMapping/>
  </p:clrMapOvr>
</p:sld>
</file>

<file path=ppt/theme/theme1.xml><?xml version="1.0" encoding="utf-8"?>
<a:theme xmlns:a="http://schemas.openxmlformats.org/drawingml/2006/main" name="3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1996</TotalTime>
  <Words>436</Words>
  <Application>Microsoft Office PowerPoint</Application>
  <PresentationFormat>A4 용지(210x297mm)</PresentationFormat>
  <Paragraphs>139</Paragraphs>
  <Slides>15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2" baseType="lpstr">
      <vt:lpstr>Noto Sans CJK KR Medium</vt:lpstr>
      <vt:lpstr>Noto Sans CJK KR Thin</vt:lpstr>
      <vt:lpstr>맑은 고딕</vt:lpstr>
      <vt:lpstr>Arial</vt:lpstr>
      <vt:lpstr>Calibri</vt:lpstr>
      <vt:lpstr>Calibri Light</vt:lpstr>
      <vt:lpstr>3_Office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HOME</dc:creator>
  <cp:lastModifiedBy>이 태기</cp:lastModifiedBy>
  <cp:revision>433</cp:revision>
  <dcterms:created xsi:type="dcterms:W3CDTF">2017-09-07T10:48:07Z</dcterms:created>
  <dcterms:modified xsi:type="dcterms:W3CDTF">2018-12-14T09:42:15Z</dcterms:modified>
</cp:coreProperties>
</file>